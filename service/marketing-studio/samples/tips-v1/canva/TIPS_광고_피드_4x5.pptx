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G logo_symbol.png" descr="logo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63811"/>
            <a:ext cx="540544" cy="381000"/>
          </a:xfrm>
          <a:prstGeom prst="rect">
            <a:avLst/>
          </a:prstGeom>
        </p:spPr>
      </p:pic>
      <p:pic>
        <p:nvPicPr>
          <p:cNvPr id="3" name="IMG logo_word.png" descr="logo_w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2094" y="1011436"/>
            <a:ext cx="1728043" cy="285750"/>
          </a:xfrm>
          <a:prstGeom prst="rect">
            <a:avLst/>
          </a:prstGeom>
        </p:spPr>
      </p:pic>
      <p:sp>
        <p:nvSpPr>
          <p:cNvPr id="4" name="chip"/>
          <p:cNvSpPr/>
          <p:nvPr/>
        </p:nvSpPr>
        <p:spPr>
          <a:xfrm>
            <a:off x="7392888" y="914400"/>
            <a:ext cx="2055912" cy="479971"/>
          </a:xfrm>
          <a:prstGeom prst="roundRect">
            <a:avLst>
              <a:gd name="adj" fmla="val 50000"/>
            </a:avLst>
          </a:prstGeom>
          <a:solidFill>
            <a:srgbClr val="19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 chip"/>
          <p:cNvSpPr txBox="1"/>
          <p:nvPr/>
        </p:nvSpPr>
        <p:spPr>
          <a:xfrm>
            <a:off x="7392888" y="914400"/>
            <a:ext cx="2055912" cy="47997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979"/>
              </a:lnSpc>
            </a:pPr>
            <a:r>
              <a:rPr sz="1650" b="1" spc="-18">
                <a:solidFill>
                  <a:srgbClr val="2DD4BF"/>
                </a:solidFill>
                <a:latin typeface="Noto Sans KR"/>
                <a:ea typeface="Noto Sans KR"/>
                <a:cs typeface="Noto Sans KR"/>
              </a:rPr>
              <a:t>개발자 없는 창업팀</a:t>
            </a:r>
          </a:p>
        </p:txBody>
      </p:sp>
      <p:sp>
        <p:nvSpPr>
          <p:cNvPr id="6" name="T H1"/>
          <p:cNvSpPr txBox="1"/>
          <p:nvPr/>
        </p:nvSpPr>
        <p:spPr>
          <a:xfrm>
            <a:off x="838200" y="2059406"/>
            <a:ext cx="8364885" cy="318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352"/>
              </a:lnSpc>
            </a:pPr>
            <a:r>
              <a:rPr sz="7200" b="1" spc="-324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TIPS 준비,</a:t>
            </a:r>
          </a:p>
          <a:p>
            <a:pPr algn="l">
              <a:lnSpc>
                <a:spcPts val="8352"/>
              </a:lnSpc>
            </a:pPr>
            <a:r>
              <a:rPr sz="7200" b="1" spc="-324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사업계획서보다</a:t>
            </a:r>
          </a:p>
          <a:p>
            <a:pPr algn="l">
              <a:lnSpc>
                <a:spcPts val="8352"/>
              </a:lnSpc>
            </a:pPr>
            <a:r>
              <a:rPr sz="7200" b="1" spc="-324">
                <a:solidFill>
                  <a:srgbClr val="2DD4BF"/>
                </a:solidFill>
                <a:latin typeface="Noto Sans KR"/>
                <a:ea typeface="Noto Sans KR"/>
                <a:cs typeface="Noto Sans KR"/>
              </a:rPr>
              <a:t>순서가 먼저입니다</a:t>
            </a:r>
          </a:p>
        </p:txBody>
      </p:sp>
      <p:sp>
        <p:nvSpPr>
          <p:cNvPr id="7" name="T sub"/>
          <p:cNvSpPr txBox="1"/>
          <p:nvPr/>
        </p:nvSpPr>
        <p:spPr>
          <a:xfrm>
            <a:off x="838200" y="5559921"/>
            <a:ext cx="5909965" cy="942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12"/>
              </a:lnSpc>
            </a:pPr>
            <a:r>
              <a:rPr sz="2475" b="0" spc="-50">
                <a:solidFill>
                  <a:srgbClr val="C5C8CF"/>
                </a:solidFill>
                <a:latin typeface="Noto Sans KR"/>
                <a:ea typeface="Noto Sans KR"/>
                <a:cs typeface="Noto Sans KR"/>
              </a:rPr>
              <a:t>사업 축과 기술 축이 만나는 자리,</a:t>
            </a:r>
          </a:p>
          <a:p>
            <a:pPr algn="l">
              <a:lnSpc>
                <a:spcPts val="3712"/>
              </a:lnSpc>
            </a:pPr>
            <a:r>
              <a:rPr sz="2475" b="0" spc="-50">
                <a:solidFill>
                  <a:srgbClr val="C5C8CF"/>
                </a:solidFill>
                <a:latin typeface="Noto Sans KR"/>
                <a:ea typeface="Noto Sans KR"/>
                <a:cs typeface="Noto Sans KR"/>
              </a:rPr>
              <a:t>우리 회사 지금 위치부터 진단합니다.</a:t>
            </a:r>
          </a:p>
        </p:txBody>
      </p:sp>
      <p:sp>
        <p:nvSpPr>
          <p:cNvPr id="8" name="noBefore"/>
          <p:cNvSpPr/>
          <p:nvPr/>
        </p:nvSpPr>
        <p:spPr>
          <a:xfrm>
            <a:off x="838200" y="6929140"/>
            <a:ext cx="2033141" cy="582811"/>
          </a:xfrm>
          <a:prstGeom prst="roundRect">
            <a:avLst>
              <a:gd name="adj" fmla="val 22880"/>
            </a:avLst>
          </a:prstGeom>
          <a:solidFill>
            <a:srgbClr val="29364D"/>
          </a:solidFill>
          <a:ln w="9525">
            <a:solidFill>
              <a:srgbClr val="3743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 noBefore"/>
          <p:cNvSpPr txBox="1"/>
          <p:nvPr/>
        </p:nvSpPr>
        <p:spPr>
          <a:xfrm>
            <a:off x="838200" y="6929140"/>
            <a:ext cx="2033141" cy="58281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340"/>
              </a:lnSpc>
            </a:pPr>
            <a:r>
              <a:rPr sz="1950" b="1">
                <a:solidFill>
                  <a:srgbClr val="2DD4BF"/>
                </a:solidFill>
                <a:latin typeface="Noto Sans KR"/>
                <a:ea typeface="Noto Sans KR"/>
                <a:cs typeface="Noto Sans KR"/>
              </a:rPr>
              <a:t>✓ </a:t>
            </a:r>
            <a:r>
              <a: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사업 축 정의</a:t>
            </a:r>
          </a:p>
        </p:txBody>
      </p:sp>
      <p:sp>
        <p:nvSpPr>
          <p:cNvPr id="10" name="noBefore"/>
          <p:cNvSpPr/>
          <p:nvPr/>
        </p:nvSpPr>
        <p:spPr>
          <a:xfrm>
            <a:off x="3004691" y="6929140"/>
            <a:ext cx="2476351" cy="582811"/>
          </a:xfrm>
          <a:prstGeom prst="roundRect">
            <a:avLst>
              <a:gd name="adj" fmla="val 22880"/>
            </a:avLst>
          </a:prstGeom>
          <a:solidFill>
            <a:srgbClr val="29364D"/>
          </a:solidFill>
          <a:ln w="9525">
            <a:solidFill>
              <a:srgbClr val="3743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 noBefore"/>
          <p:cNvSpPr txBox="1"/>
          <p:nvPr/>
        </p:nvSpPr>
        <p:spPr>
          <a:xfrm>
            <a:off x="3004691" y="6929140"/>
            <a:ext cx="2476351" cy="58281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340"/>
              </a:lnSpc>
            </a:pPr>
            <a:r>
              <a:rPr sz="1950" b="1">
                <a:solidFill>
                  <a:srgbClr val="2DD4BF"/>
                </a:solidFill>
                <a:latin typeface="Noto Sans KR"/>
                <a:ea typeface="Noto Sans KR"/>
                <a:cs typeface="Noto Sans KR"/>
              </a:rPr>
              <a:t>✓ </a:t>
            </a:r>
            <a:r>
              <a: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기술 축 3단 질문</a:t>
            </a:r>
          </a:p>
        </p:txBody>
      </p:sp>
      <p:sp>
        <p:nvSpPr>
          <p:cNvPr id="12" name="noBefore"/>
          <p:cNvSpPr/>
          <p:nvPr/>
        </p:nvSpPr>
        <p:spPr>
          <a:xfrm>
            <a:off x="5614392" y="6929140"/>
            <a:ext cx="2260997" cy="582811"/>
          </a:xfrm>
          <a:prstGeom prst="roundRect">
            <a:avLst>
              <a:gd name="adj" fmla="val 22880"/>
            </a:avLst>
          </a:prstGeom>
          <a:solidFill>
            <a:srgbClr val="29364D"/>
          </a:solidFill>
          <a:ln w="9525">
            <a:solidFill>
              <a:srgbClr val="3743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 noBefore"/>
          <p:cNvSpPr txBox="1"/>
          <p:nvPr/>
        </p:nvSpPr>
        <p:spPr>
          <a:xfrm>
            <a:off x="5614392" y="6929140"/>
            <a:ext cx="2260997" cy="58281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340"/>
              </a:lnSpc>
            </a:pPr>
            <a:r>
              <a:rPr sz="1950" b="1">
                <a:solidFill>
                  <a:srgbClr val="2DD4BF"/>
                </a:solidFill>
                <a:latin typeface="Noto Sans KR"/>
                <a:ea typeface="Noto Sans KR"/>
                <a:cs typeface="Noto Sans KR"/>
              </a:rPr>
              <a:t>✓ </a:t>
            </a:r>
            <a:r>
              <a: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현재 위치 진단</a:t>
            </a:r>
          </a:p>
        </p:txBody>
      </p:sp>
      <p:pic>
        <p:nvPicPr>
          <p:cNvPr id="14" name="IMG 결정지도(합성)" descr="ad_map_compos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7905750"/>
            <a:ext cx="8610600" cy="3143250"/>
          </a:xfrm>
          <a:prstGeom prst="rect">
            <a:avLst/>
          </a:prstGeom>
        </p:spPr>
      </p:pic>
      <p:sp>
        <p:nvSpPr>
          <p:cNvPr id="15" name="tag"/>
          <p:cNvSpPr/>
          <p:nvPr/>
        </p:nvSpPr>
        <p:spPr>
          <a:xfrm>
            <a:off x="1047750" y="8077200"/>
            <a:ext cx="1386929" cy="342900"/>
          </a:xfrm>
          <a:prstGeom prst="roundRect">
            <a:avLst>
              <a:gd name="adj" fmla="val 22222"/>
            </a:avLst>
          </a:prstGeom>
          <a:solidFill>
            <a:srgbClr val="16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 tag"/>
          <p:cNvSpPr txBox="1"/>
          <p:nvPr/>
        </p:nvSpPr>
        <p:spPr>
          <a:xfrm>
            <a:off x="1047750" y="8077200"/>
            <a:ext cx="1386929" cy="342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800"/>
              </a:lnSpc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실제 진단 화면</a:t>
            </a:r>
          </a:p>
        </p:txBody>
      </p:sp>
      <p:sp>
        <p:nvSpPr>
          <p:cNvPr id="17" name="adcta"/>
          <p:cNvSpPr/>
          <p:nvPr/>
        </p:nvSpPr>
        <p:spPr>
          <a:xfrm>
            <a:off x="838200" y="11258550"/>
            <a:ext cx="8610600" cy="914400"/>
          </a:xfrm>
          <a:prstGeom prst="roundRect">
            <a:avLst>
              <a:gd name="adj" fmla="val 20833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 SPAN"/>
          <p:cNvSpPr txBox="1"/>
          <p:nvPr/>
        </p:nvSpPr>
        <p:spPr>
          <a:xfrm>
            <a:off x="1219200" y="11504355"/>
            <a:ext cx="3874926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240"/>
              </a:lnSpc>
            </a:pPr>
            <a:r>
              <a:rPr sz="2700" b="1" spc="-81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AX 수준 진단받아보기</a:t>
            </a:r>
          </a:p>
        </p:txBody>
      </p:sp>
      <p:sp>
        <p:nvSpPr>
          <p:cNvPr id="19" name="T SPAN"/>
          <p:cNvSpPr txBox="1"/>
          <p:nvPr/>
        </p:nvSpPr>
        <p:spPr>
          <a:xfrm>
            <a:off x="8735169" y="11504355"/>
            <a:ext cx="511039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240"/>
              </a:lnSpc>
            </a:pPr>
            <a:r>
              <a:rPr sz="2700" b="1" spc="-81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TIPS 피드 광고 v1 (편집본)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