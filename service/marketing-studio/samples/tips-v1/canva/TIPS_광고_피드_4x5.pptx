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2025"/>
            <a:ext cx="540544" cy="381000"/>
          </a:xfrm>
          <a:prstGeom prst="rect">
            <a:avLst/>
          </a:prstGeom>
        </p:spPr>
      </p:pic>
      <p:pic>
        <p:nvPicPr>
          <p:cNvPr id="3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094" y="1009650"/>
            <a:ext cx="1728043" cy="285750"/>
          </a:xfrm>
          <a:prstGeom prst="rect">
            <a:avLst/>
          </a:prstGeom>
        </p:spPr>
      </p:pic>
      <p:sp>
        <p:nvSpPr>
          <p:cNvPr id="4" name="chip"/>
          <p:cNvSpPr/>
          <p:nvPr/>
        </p:nvSpPr>
        <p:spPr>
          <a:xfrm>
            <a:off x="7504212" y="914400"/>
            <a:ext cx="1944588" cy="476250"/>
          </a:xfrm>
          <a:prstGeom prst="roundRect">
            <a:avLst>
              <a:gd name="adj" fmla="val 50000"/>
            </a:avLst>
          </a:prstGeom>
          <a:solidFill>
            <a:srgbClr val="193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 chip"/>
          <p:cNvSpPr txBox="1"/>
          <p:nvPr/>
        </p:nvSpPr>
        <p:spPr>
          <a:xfrm>
            <a:off x="7504212" y="914400"/>
            <a:ext cx="1944588" cy="476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 spc="-18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개발자 없는 창업팀</a:t>
            </a:r>
          </a:p>
        </p:txBody>
      </p:sp>
      <p:sp>
        <p:nvSpPr>
          <p:cNvPr id="6" name="T H1"/>
          <p:cNvSpPr txBox="1"/>
          <p:nvPr/>
        </p:nvSpPr>
        <p:spPr>
          <a:xfrm>
            <a:off x="838200" y="2038350"/>
            <a:ext cx="6563910" cy="32072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TIPS 준비,</a:t>
            </a:r>
          </a:p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사업계획서보다</a:t>
            </a:r>
          </a:p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순서가 먼저입니다</a:t>
            </a:r>
          </a:p>
        </p:txBody>
      </p:sp>
      <p:sp>
        <p:nvSpPr>
          <p:cNvPr id="7" name="T sub"/>
          <p:cNvSpPr txBox="1"/>
          <p:nvPr/>
        </p:nvSpPr>
        <p:spPr>
          <a:xfrm>
            <a:off x="838200" y="5610969"/>
            <a:ext cx="4637529" cy="8429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12"/>
              </a:lnSpc>
            </a:pPr>
            <a:r>
              <a:rPr sz="2475" b="0" spc="-50">
                <a:solidFill>
                  <a:srgbClr val="C5C8CF"/>
                </a:solidFill>
                <a:latin typeface="Pretendard"/>
                <a:ea typeface="Pretendard"/>
                <a:cs typeface="Pretendard"/>
              </a:rPr>
              <a:t>사업 축과 기술 축이 만나는 자리,</a:t>
            </a:r>
          </a:p>
          <a:p>
            <a:pPr algn="l">
              <a:lnSpc>
                <a:spcPts val="3712"/>
              </a:lnSpc>
            </a:pPr>
            <a:r>
              <a:rPr sz="2475" b="0" spc="-50">
                <a:solidFill>
                  <a:srgbClr val="C5C8CF"/>
                </a:solidFill>
                <a:latin typeface="Pretendard"/>
                <a:ea typeface="Pretendard"/>
                <a:cs typeface="Pretendard"/>
              </a:rPr>
              <a:t>우리 회사 지금 위치부터 진단합니다.</a:t>
            </a:r>
          </a:p>
        </p:txBody>
      </p:sp>
      <p:sp>
        <p:nvSpPr>
          <p:cNvPr id="8" name="noBefore"/>
          <p:cNvSpPr/>
          <p:nvPr/>
        </p:nvSpPr>
        <p:spPr>
          <a:xfrm>
            <a:off x="838200" y="6925419"/>
            <a:ext cx="1890117" cy="581025"/>
          </a:xfrm>
          <a:prstGeom prst="roundRect">
            <a:avLst>
              <a:gd name="adj" fmla="val 2295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 noBefore"/>
          <p:cNvSpPr txBox="1"/>
          <p:nvPr/>
        </p:nvSpPr>
        <p:spPr>
          <a:xfrm>
            <a:off x="838200" y="6925419"/>
            <a:ext cx="1890117" cy="581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✓ </a:t>
            </a: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 축 정의</a:t>
            </a:r>
          </a:p>
        </p:txBody>
      </p:sp>
      <p:sp>
        <p:nvSpPr>
          <p:cNvPr id="10" name="noBefore"/>
          <p:cNvSpPr/>
          <p:nvPr/>
        </p:nvSpPr>
        <p:spPr>
          <a:xfrm>
            <a:off x="2861667" y="6925419"/>
            <a:ext cx="2319338" cy="581025"/>
          </a:xfrm>
          <a:prstGeom prst="roundRect">
            <a:avLst>
              <a:gd name="adj" fmla="val 2295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 noBefore"/>
          <p:cNvSpPr txBox="1"/>
          <p:nvPr/>
        </p:nvSpPr>
        <p:spPr>
          <a:xfrm>
            <a:off x="2861667" y="6925419"/>
            <a:ext cx="2319338" cy="581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✓ </a:t>
            </a: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기술 축 3단 질문</a:t>
            </a:r>
          </a:p>
        </p:txBody>
      </p:sp>
      <p:sp>
        <p:nvSpPr>
          <p:cNvPr id="12" name="noBefore"/>
          <p:cNvSpPr/>
          <p:nvPr/>
        </p:nvSpPr>
        <p:spPr>
          <a:xfrm>
            <a:off x="5314355" y="6925419"/>
            <a:ext cx="2104132" cy="581025"/>
          </a:xfrm>
          <a:prstGeom prst="roundRect">
            <a:avLst>
              <a:gd name="adj" fmla="val 2295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noBefore"/>
          <p:cNvSpPr txBox="1"/>
          <p:nvPr/>
        </p:nvSpPr>
        <p:spPr>
          <a:xfrm>
            <a:off x="5314355" y="6925419"/>
            <a:ext cx="2104132" cy="581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✓ </a:t>
            </a: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현재 위치 진단</a:t>
            </a:r>
          </a:p>
        </p:txBody>
      </p:sp>
      <p:pic>
        <p:nvPicPr>
          <p:cNvPr id="14" name="IMG 결정지도(합성)" descr="ad_map_compo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905750"/>
            <a:ext cx="8610600" cy="3143250"/>
          </a:xfrm>
          <a:prstGeom prst="rect">
            <a:avLst/>
          </a:prstGeom>
        </p:spPr>
      </p:pic>
      <p:sp>
        <p:nvSpPr>
          <p:cNvPr id="15" name="tag"/>
          <p:cNvSpPr/>
          <p:nvPr/>
        </p:nvSpPr>
        <p:spPr>
          <a:xfrm>
            <a:off x="1047750" y="8077200"/>
            <a:ext cx="1304330" cy="342900"/>
          </a:xfrm>
          <a:prstGeom prst="roundRect">
            <a:avLst>
              <a:gd name="adj" fmla="val 22222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 tag"/>
          <p:cNvSpPr txBox="1"/>
          <p:nvPr/>
        </p:nvSpPr>
        <p:spPr>
          <a:xfrm>
            <a:off x="1047750" y="8077200"/>
            <a:ext cx="130433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진단 화면</a:t>
            </a:r>
          </a:p>
        </p:txBody>
      </p:sp>
      <p:sp>
        <p:nvSpPr>
          <p:cNvPr id="17" name="adcta"/>
          <p:cNvSpPr/>
          <p:nvPr/>
        </p:nvSpPr>
        <p:spPr>
          <a:xfrm>
            <a:off x="838200" y="11258550"/>
            <a:ext cx="8610600" cy="914400"/>
          </a:xfrm>
          <a:prstGeom prst="roundRect">
            <a:avLst>
              <a:gd name="adj" fmla="val 2083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 SPAN"/>
          <p:cNvSpPr txBox="1"/>
          <p:nvPr/>
        </p:nvSpPr>
        <p:spPr>
          <a:xfrm>
            <a:off x="1219200" y="11510962"/>
            <a:ext cx="3110749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AX 수준 진단받아보기</a:t>
            </a:r>
          </a:p>
        </p:txBody>
      </p:sp>
      <p:sp>
        <p:nvSpPr>
          <p:cNvPr id="19" name="T SPAN"/>
          <p:cNvSpPr txBox="1"/>
          <p:nvPr/>
        </p:nvSpPr>
        <p:spPr>
          <a:xfrm>
            <a:off x="8760916" y="11510962"/>
            <a:ext cx="363397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TIPS 피드 광고 v1 (편집본)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