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hip"/>
          <p:cNvSpPr/>
          <p:nvPr/>
        </p:nvSpPr>
        <p:spPr>
          <a:xfrm>
            <a:off x="838200" y="914400"/>
            <a:ext cx="3500140" cy="504825"/>
          </a:xfrm>
          <a:prstGeom prst="roundRect">
            <a:avLst>
              <a:gd name="adj" fmla="val 50000"/>
            </a:avLst>
          </a:prstGeom>
          <a:solidFill>
            <a:srgbClr val="193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 chip"/>
          <p:cNvSpPr txBox="1"/>
          <p:nvPr/>
        </p:nvSpPr>
        <p:spPr>
          <a:xfrm>
            <a:off x="838200" y="914400"/>
            <a:ext cx="3500140" cy="5048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800" b="1" spc="-18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비개발 대표를 위한 TIPS 준비 노트</a:t>
            </a:r>
          </a:p>
        </p:txBody>
      </p:sp>
      <p:sp>
        <p:nvSpPr>
          <p:cNvPr id="4" name="T pg"/>
          <p:cNvSpPr txBox="1"/>
          <p:nvPr/>
        </p:nvSpPr>
        <p:spPr>
          <a:xfrm>
            <a:off x="8982224" y="1028700"/>
            <a:ext cx="532671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 / 5</a:t>
            </a:r>
          </a:p>
        </p:txBody>
      </p:sp>
      <p:sp>
        <p:nvSpPr>
          <p:cNvPr id="5" name="T H1"/>
          <p:cNvSpPr txBox="1"/>
          <p:nvPr/>
        </p:nvSpPr>
        <p:spPr>
          <a:xfrm>
            <a:off x="838200" y="2009775"/>
            <a:ext cx="5258622" cy="36150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396"/>
              </a:lnSpc>
            </a:pPr>
            <a:r>
              <a:rPr sz="8100" b="1" spc="-36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TIPS 준비,</a:t>
            </a:r>
          </a:p>
          <a:p>
            <a:pPr algn="l">
              <a:lnSpc>
                <a:spcPts val="9396"/>
              </a:lnSpc>
            </a:pPr>
            <a:r>
              <a:rPr sz="8100" b="1" spc="-36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어디서부터</a:t>
            </a:r>
          </a:p>
          <a:p>
            <a:pPr algn="l">
              <a:lnSpc>
                <a:spcPts val="9396"/>
              </a:lnSpc>
            </a:pPr>
            <a:r>
              <a:rPr sz="8100" b="1" spc="-365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해야 할까요?</a:t>
            </a:r>
          </a:p>
        </p:txBody>
      </p:sp>
      <p:sp>
        <p:nvSpPr>
          <p:cNvPr id="6" name="T sub"/>
          <p:cNvSpPr txBox="1"/>
          <p:nvPr/>
        </p:nvSpPr>
        <p:spPr>
          <a:xfrm>
            <a:off x="838200" y="6036915"/>
            <a:ext cx="4930801" cy="8667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825"/>
              </a:lnSpc>
            </a:pPr>
            <a:r>
              <a:rPr sz="2550" b="0" spc="-51">
                <a:solidFill>
                  <a:srgbClr val="BEC2C9"/>
                </a:solidFill>
                <a:latin typeface="Pretendard"/>
                <a:ea typeface="Pretendard"/>
                <a:cs typeface="Pretendard"/>
              </a:rPr>
              <a:t>사업계획서를 쓰기 전에</a:t>
            </a:r>
          </a:p>
          <a:p>
            <a:pPr algn="l">
              <a:lnSpc>
                <a:spcPts val="3825"/>
              </a:lnSpc>
            </a:pPr>
            <a:r>
              <a:rPr sz="2550" b="0" spc="-51">
                <a:solidFill>
                  <a:srgbClr val="BEC2C9"/>
                </a:solidFill>
                <a:latin typeface="Pretendard"/>
                <a:ea typeface="Pretendard"/>
                <a:cs typeface="Pretendard"/>
              </a:rPr>
              <a:t>먼저 세워야 할 두 개의 축이 있습니다.</a:t>
            </a:r>
          </a:p>
        </p:txBody>
      </p:sp>
      <p:sp>
        <p:nvSpPr>
          <p:cNvPr id="7" name="c a"/>
          <p:cNvSpPr/>
          <p:nvPr/>
        </p:nvSpPr>
        <p:spPr>
          <a:xfrm>
            <a:off x="3619500" y="7143750"/>
            <a:ext cx="4095750" cy="40957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 c a"/>
          <p:cNvSpPr txBox="1"/>
          <p:nvPr/>
        </p:nvSpPr>
        <p:spPr>
          <a:xfrm>
            <a:off x="4362450" y="9001125"/>
            <a:ext cx="979914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5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사업 축</a:t>
            </a:r>
          </a:p>
        </p:txBody>
      </p:sp>
      <p:sp>
        <p:nvSpPr>
          <p:cNvPr id="9" name="c b"/>
          <p:cNvSpPr/>
          <p:nvPr/>
        </p:nvSpPr>
        <p:spPr>
          <a:xfrm>
            <a:off x="6286500" y="7143750"/>
            <a:ext cx="4095750" cy="409575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 c b"/>
          <p:cNvSpPr txBox="1"/>
          <p:nvPr/>
        </p:nvSpPr>
        <p:spPr>
          <a:xfrm>
            <a:off x="8369796" y="9001125"/>
            <a:ext cx="979914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5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기술 축</a:t>
            </a:r>
          </a:p>
        </p:txBody>
      </p:sp>
      <p:sp>
        <p:nvSpPr>
          <p:cNvPr id="11" name="SPAN"/>
          <p:cNvSpPr/>
          <p:nvPr/>
        </p:nvSpPr>
        <p:spPr>
          <a:xfrm>
            <a:off x="6417022" y="8958262"/>
            <a:ext cx="1167557" cy="466725"/>
          </a:xfrm>
          <a:prstGeom prst="roundRect">
            <a:avLst>
              <a:gd name="adj" fmla="val 20408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 SPAN"/>
          <p:cNvSpPr txBox="1"/>
          <p:nvPr/>
        </p:nvSpPr>
        <p:spPr>
          <a:xfrm>
            <a:off x="6417022" y="8958262"/>
            <a:ext cx="1167557" cy="4667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R&amp;D 과제</a:t>
            </a:r>
          </a:p>
        </p:txBody>
      </p:sp>
      <p:pic>
        <p:nvPicPr>
          <p:cNvPr id="13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791950"/>
            <a:ext cx="540544" cy="381000"/>
          </a:xfrm>
          <a:prstGeom prst="rect">
            <a:avLst/>
          </a:prstGeom>
        </p:spPr>
      </p:pic>
      <p:pic>
        <p:nvPicPr>
          <p:cNvPr id="14" name="IMG logo_word.png" descr="logo_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2094" y="11839575"/>
            <a:ext cx="1728043" cy="285750"/>
          </a:xfrm>
          <a:prstGeom prst="rect">
            <a:avLst/>
          </a:prstGeom>
        </p:spPr>
      </p:pic>
      <p:sp>
        <p:nvSpPr>
          <p:cNvPr id="15" name="T next"/>
          <p:cNvSpPr txBox="1"/>
          <p:nvPr/>
        </p:nvSpPr>
        <p:spPr>
          <a:xfrm>
            <a:off x="8196560" y="11844338"/>
            <a:ext cx="1365474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B9BDC5"/>
                </a:solidFill>
                <a:latin typeface="Pretendard"/>
                <a:ea typeface="Pretendard"/>
                <a:cs typeface="Pretendard"/>
              </a:rPr>
              <a:t>넘겨보세요 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4400"/>
            <a:ext cx="1247156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1" spc="-20">
                <a:solidFill>
                  <a:srgbClr val="0F9E8C"/>
                </a:solidFill>
                <a:latin typeface="Pretendard"/>
                <a:ea typeface="Pretendard"/>
                <a:cs typeface="Pretendard"/>
              </a:rPr>
              <a:t>01 · 큰 그림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982224" y="923925"/>
            <a:ext cx="532671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0" spc="-18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2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66850"/>
            <a:ext cx="6735866" cy="25366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R&amp;D 과제는</a:t>
            </a:r>
          </a:p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두 축이 만나는 자리에서</a:t>
            </a:r>
          </a:p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나옵니다</a:t>
            </a:r>
          </a:p>
        </p:txBody>
      </p:sp>
      <p:sp>
        <p:nvSpPr>
          <p:cNvPr id="5" name="card cn"/>
          <p:cNvSpPr/>
          <p:nvPr/>
        </p:nvSpPr>
        <p:spPr>
          <a:xfrm>
            <a:off x="838200" y="4605040"/>
            <a:ext cx="8610600" cy="2001589"/>
          </a:xfrm>
          <a:prstGeom prst="roundRect">
            <a:avLst>
              <a:gd name="adj" fmla="val 11420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 k"/>
          <p:cNvSpPr txBox="1"/>
          <p:nvPr/>
        </p:nvSpPr>
        <p:spPr>
          <a:xfrm>
            <a:off x="1257300" y="4947940"/>
            <a:ext cx="722296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사업 축</a:t>
            </a:r>
          </a:p>
        </p:txBody>
      </p:sp>
      <p:sp>
        <p:nvSpPr>
          <p:cNvPr id="7" name="T t"/>
          <p:cNvSpPr txBox="1"/>
          <p:nvPr/>
        </p:nvSpPr>
        <p:spPr>
          <a:xfrm>
            <a:off x="1257300" y="5300365"/>
            <a:ext cx="3740045" cy="476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150" b="1" spc="-9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어디까지 확장 가능한가</a:t>
            </a:r>
          </a:p>
        </p:txBody>
      </p:sp>
      <p:sp>
        <p:nvSpPr>
          <p:cNvPr id="8" name="T d"/>
          <p:cNvSpPr txBox="1"/>
          <p:nvPr/>
        </p:nvSpPr>
        <p:spPr>
          <a:xfrm>
            <a:off x="1257300" y="5919490"/>
            <a:ext cx="4992957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025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“이 기술에 왜 이만큼 투자해야 하나”에 대한 답</a:t>
            </a:r>
          </a:p>
        </p:txBody>
      </p:sp>
      <p:sp>
        <p:nvSpPr>
          <p:cNvPr id="9" name="T arrow"/>
          <p:cNvSpPr txBox="1"/>
          <p:nvPr/>
        </p:nvSpPr>
        <p:spPr>
          <a:xfrm>
            <a:off x="5005239" y="6692354"/>
            <a:ext cx="331056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250" b="0">
                <a:solidFill>
                  <a:srgbClr val="9AAABD"/>
                </a:solidFill>
                <a:latin typeface="Pretendard"/>
                <a:ea typeface="Pretendard"/>
                <a:cs typeface="Pretendard"/>
              </a:rPr>
              <a:t>▼</a:t>
            </a:r>
          </a:p>
        </p:txBody>
      </p:sp>
      <p:sp>
        <p:nvSpPr>
          <p:cNvPr id="10" name="card ct"/>
          <p:cNvSpPr/>
          <p:nvPr/>
        </p:nvSpPr>
        <p:spPr>
          <a:xfrm>
            <a:off x="838200" y="7120979"/>
            <a:ext cx="8610600" cy="1992064"/>
          </a:xfrm>
          <a:prstGeom prst="roundRect">
            <a:avLst>
              <a:gd name="adj" fmla="val 11475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 t"/>
          <p:cNvSpPr txBox="1"/>
          <p:nvPr/>
        </p:nvSpPr>
        <p:spPr>
          <a:xfrm>
            <a:off x="2885629" y="7616279"/>
            <a:ext cx="4824788" cy="5905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900" b="1" spc="-117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우리 회사 코어 기술 엔진</a:t>
            </a:r>
          </a:p>
        </p:txBody>
      </p:sp>
      <p:sp>
        <p:nvSpPr>
          <p:cNvPr id="12" name="T d"/>
          <p:cNvSpPr txBox="1"/>
          <p:nvPr/>
        </p:nvSpPr>
        <p:spPr>
          <a:xfrm>
            <a:off x="3515469" y="8349704"/>
            <a:ext cx="3489368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025" b="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두 축이 만나는 자리 = R&amp;D 과제</a:t>
            </a:r>
          </a:p>
        </p:txBody>
      </p:sp>
      <p:sp>
        <p:nvSpPr>
          <p:cNvPr id="13" name="T arrow"/>
          <p:cNvSpPr txBox="1"/>
          <p:nvPr/>
        </p:nvSpPr>
        <p:spPr>
          <a:xfrm>
            <a:off x="5005239" y="9198769"/>
            <a:ext cx="331056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250" b="0">
                <a:solidFill>
                  <a:srgbClr val="9AAABD"/>
                </a:solidFill>
                <a:latin typeface="Pretendard"/>
                <a:ea typeface="Pretendard"/>
                <a:cs typeface="Pretendard"/>
              </a:rPr>
              <a:t>▲</a:t>
            </a:r>
          </a:p>
        </p:txBody>
      </p:sp>
      <p:sp>
        <p:nvSpPr>
          <p:cNvPr id="14" name="card cn"/>
          <p:cNvSpPr/>
          <p:nvPr/>
        </p:nvSpPr>
        <p:spPr>
          <a:xfrm>
            <a:off x="838200" y="9627394"/>
            <a:ext cx="8610600" cy="2001589"/>
          </a:xfrm>
          <a:prstGeom prst="roundRect">
            <a:avLst>
              <a:gd name="adj" fmla="val 11420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 k"/>
          <p:cNvSpPr txBox="1"/>
          <p:nvPr/>
        </p:nvSpPr>
        <p:spPr>
          <a:xfrm>
            <a:off x="1257300" y="9970294"/>
            <a:ext cx="722296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기술 축</a:t>
            </a:r>
          </a:p>
        </p:txBody>
      </p:sp>
      <p:sp>
        <p:nvSpPr>
          <p:cNvPr id="16" name="T t"/>
          <p:cNvSpPr txBox="1"/>
          <p:nvPr/>
        </p:nvSpPr>
        <p:spPr>
          <a:xfrm>
            <a:off x="1257300" y="10322719"/>
            <a:ext cx="3468386" cy="476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150" b="1" spc="-9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기술이 왜 필요한가</a:t>
            </a:r>
          </a:p>
        </p:txBody>
      </p:sp>
      <p:sp>
        <p:nvSpPr>
          <p:cNvPr id="17" name="T d"/>
          <p:cNvSpPr txBox="1"/>
          <p:nvPr/>
        </p:nvSpPr>
        <p:spPr>
          <a:xfrm>
            <a:off x="1257300" y="10941844"/>
            <a:ext cx="5757136" cy="3143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025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신사업 나열이 아니라, 같은 기술을 넓혀 적용하는 구조</a:t>
            </a:r>
          </a:p>
        </p:txBody>
      </p:sp>
      <p:sp>
        <p:nvSpPr>
          <p:cNvPr id="18" name="lightpill"/>
          <p:cNvSpPr/>
          <p:nvPr/>
        </p:nvSpPr>
        <p:spPr>
          <a:xfrm>
            <a:off x="838200" y="11772900"/>
            <a:ext cx="618083" cy="400050"/>
          </a:xfrm>
          <a:prstGeom prst="roundRect">
            <a:avLst>
              <a:gd name="adj" fmla="val 28571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9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11849100"/>
            <a:ext cx="351383" cy="247650"/>
          </a:xfrm>
          <a:prstGeom prst="rect">
            <a:avLst/>
          </a:prstGeom>
        </p:spPr>
      </p:pic>
      <p:sp>
        <p:nvSpPr>
          <p:cNvPr id="20" name="T pg"/>
          <p:cNvSpPr txBox="1"/>
          <p:nvPr/>
        </p:nvSpPr>
        <p:spPr>
          <a:xfrm>
            <a:off x="7886700" y="11849100"/>
            <a:ext cx="1693926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사업 축 ↔ 기술 축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4400"/>
            <a:ext cx="1284229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1" spc="-20">
                <a:solidFill>
                  <a:srgbClr val="0F9E8C"/>
                </a:solidFill>
                <a:latin typeface="Pretendard"/>
                <a:ea typeface="Pretendard"/>
                <a:cs typeface="Pretendard"/>
              </a:rPr>
              <a:t>02 · 기술 축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982224" y="923925"/>
            <a:ext cx="532671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0" spc="-18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3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57325"/>
            <a:ext cx="7171751" cy="165571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438"/>
              </a:lnSpc>
            </a:pPr>
            <a:r>
              <a:rPr sz="5550" b="1" spc="-250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‘개인화’라고만 쓰면</a:t>
            </a:r>
          </a:p>
          <a:p>
            <a:pPr algn="l">
              <a:lnSpc>
                <a:spcPts val="6438"/>
              </a:lnSpc>
            </a:pPr>
            <a:r>
              <a:rPr sz="5550" b="1" spc="-250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누구나 하는 기술이 됩니다</a:t>
            </a:r>
          </a:p>
        </p:txBody>
      </p:sp>
      <p:sp>
        <p:nvSpPr>
          <p:cNvPr id="5" name="row"/>
          <p:cNvSpPr/>
          <p:nvPr/>
        </p:nvSpPr>
        <p:spPr>
          <a:xfrm>
            <a:off x="838200" y="3644801"/>
            <a:ext cx="8610600" cy="1428750"/>
          </a:xfrm>
          <a:prstGeom prst="roundRect">
            <a:avLst>
              <a:gd name="adj" fmla="val 14666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 q"/>
          <p:cNvSpPr txBox="1"/>
          <p:nvPr/>
        </p:nvSpPr>
        <p:spPr>
          <a:xfrm>
            <a:off x="1219200" y="4130576"/>
            <a:ext cx="375071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000" b="1" spc="-90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왜</a:t>
            </a:r>
          </a:p>
        </p:txBody>
      </p:sp>
      <p:sp>
        <p:nvSpPr>
          <p:cNvPr id="7" name="T t"/>
          <p:cNvSpPr txBox="1"/>
          <p:nvPr/>
        </p:nvSpPr>
        <p:spPr>
          <a:xfrm>
            <a:off x="2647950" y="3968651"/>
            <a:ext cx="947889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개인화</a:t>
            </a:r>
          </a:p>
        </p:txBody>
      </p:sp>
      <p:sp>
        <p:nvSpPr>
          <p:cNvPr id="8" name="T d"/>
          <p:cNvSpPr txBox="1"/>
          <p:nvPr/>
        </p:nvSpPr>
        <p:spPr>
          <a:xfrm>
            <a:off x="2647950" y="4454426"/>
            <a:ext cx="4442383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0">
                <a:solidFill>
                  <a:srgbClr val="6B7A90"/>
                </a:solidFill>
                <a:latin typeface="Pretendard"/>
                <a:ea typeface="Pretendard"/>
                <a:cs typeface="Pretendard"/>
              </a:rPr>
              <a:t>여기서 멈추면 모두가 같은 목표를 말합니다</a:t>
            </a:r>
          </a:p>
        </p:txBody>
      </p:sp>
      <p:sp>
        <p:nvSpPr>
          <p:cNvPr id="9" name="row"/>
          <p:cNvSpPr/>
          <p:nvPr/>
        </p:nvSpPr>
        <p:spPr>
          <a:xfrm>
            <a:off x="838200" y="5245001"/>
            <a:ext cx="8610600" cy="1428750"/>
          </a:xfrm>
          <a:prstGeom prst="roundRect">
            <a:avLst>
              <a:gd name="adj" fmla="val 14666"/>
            </a:avLst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 q"/>
          <p:cNvSpPr txBox="1"/>
          <p:nvPr/>
        </p:nvSpPr>
        <p:spPr>
          <a:xfrm>
            <a:off x="1219200" y="5730776"/>
            <a:ext cx="712041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000" b="1" spc="-90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1" name="T t"/>
          <p:cNvSpPr txBox="1"/>
          <p:nvPr/>
        </p:nvSpPr>
        <p:spPr>
          <a:xfrm>
            <a:off x="2647950" y="5568851"/>
            <a:ext cx="2840194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무엇을 개인화하는가</a:t>
            </a:r>
          </a:p>
        </p:txBody>
      </p:sp>
      <p:sp>
        <p:nvSpPr>
          <p:cNvPr id="12" name="T d"/>
          <p:cNvSpPr txBox="1"/>
          <p:nvPr/>
        </p:nvSpPr>
        <p:spPr>
          <a:xfrm>
            <a:off x="2647950" y="6054626"/>
            <a:ext cx="3183002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0">
                <a:solidFill>
                  <a:srgbClr val="6B7A90"/>
                </a:solidFill>
                <a:latin typeface="Pretendard"/>
                <a:ea typeface="Pretendard"/>
                <a:cs typeface="Pretendard"/>
              </a:rPr>
              <a:t>업종마다, 사업마다 달라집니다</a:t>
            </a:r>
          </a:p>
        </p:txBody>
      </p:sp>
      <p:sp>
        <p:nvSpPr>
          <p:cNvPr id="13" name="row hl"/>
          <p:cNvSpPr/>
          <p:nvPr/>
        </p:nvSpPr>
        <p:spPr>
          <a:xfrm>
            <a:off x="838200" y="6845201"/>
            <a:ext cx="8610600" cy="1428750"/>
          </a:xfrm>
          <a:prstGeom prst="roundRect">
            <a:avLst>
              <a:gd name="adj" fmla="val 14666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 q"/>
          <p:cNvSpPr txBox="1"/>
          <p:nvPr/>
        </p:nvSpPr>
        <p:spPr>
          <a:xfrm>
            <a:off x="1219200" y="7330976"/>
            <a:ext cx="1049012" cy="4572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3000" b="1" spc="-90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어떻게</a:t>
            </a:r>
          </a:p>
        </p:txBody>
      </p:sp>
      <p:sp>
        <p:nvSpPr>
          <p:cNvPr id="15" name="T t"/>
          <p:cNvSpPr txBox="1"/>
          <p:nvPr/>
        </p:nvSpPr>
        <p:spPr>
          <a:xfrm>
            <a:off x="2647950" y="7169051"/>
            <a:ext cx="2609710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우리만의 측정 지표</a:t>
            </a:r>
          </a:p>
        </p:txBody>
      </p:sp>
      <p:sp>
        <p:nvSpPr>
          <p:cNvPr id="16" name="star"/>
          <p:cNvSpPr/>
          <p:nvPr/>
        </p:nvSpPr>
        <p:spPr>
          <a:xfrm>
            <a:off x="5188297" y="7197626"/>
            <a:ext cx="933004" cy="323850"/>
          </a:xfrm>
          <a:prstGeom prst="roundRect">
            <a:avLst>
              <a:gd name="adj" fmla="val 23529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 star"/>
          <p:cNvSpPr txBox="1"/>
          <p:nvPr/>
        </p:nvSpPr>
        <p:spPr>
          <a:xfrm>
            <a:off x="5188297" y="7197626"/>
            <a:ext cx="933004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650" b="1" spc="-8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★ 과제명</a:t>
            </a:r>
          </a:p>
        </p:txBody>
      </p:sp>
      <p:sp>
        <p:nvSpPr>
          <p:cNvPr id="18" name="T d"/>
          <p:cNvSpPr txBox="1"/>
          <p:nvPr/>
        </p:nvSpPr>
        <p:spPr>
          <a:xfrm>
            <a:off x="2647950" y="7654826"/>
            <a:ext cx="5328666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0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고객·회사·팀에 따라 달라지는, 차별점이 생기는 영역</a:t>
            </a:r>
          </a:p>
        </p:txBody>
      </p:sp>
      <p:sp>
        <p:nvSpPr>
          <p:cNvPr id="19" name="ex"/>
          <p:cNvSpPr/>
          <p:nvPr/>
        </p:nvSpPr>
        <p:spPr>
          <a:xfrm>
            <a:off x="838200" y="8597801"/>
            <a:ext cx="8610600" cy="1876425"/>
          </a:xfrm>
          <a:prstGeom prst="roundRect">
            <a:avLst>
              <a:gd name="adj" fmla="val 11167"/>
            </a:avLst>
          </a:prstGeom>
          <a:noFill/>
          <a:ln w="19050">
            <a:solidFill>
              <a:srgbClr val="B8C4D2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 l"/>
          <p:cNvSpPr txBox="1"/>
          <p:nvPr/>
        </p:nvSpPr>
        <p:spPr>
          <a:xfrm>
            <a:off x="1238250" y="8902601"/>
            <a:ext cx="2938477" cy="2667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725" b="1">
                <a:solidFill>
                  <a:srgbClr val="0F9E8C"/>
                </a:solidFill>
                <a:latin typeface="Pretendard"/>
                <a:ea typeface="Pretendard"/>
                <a:cs typeface="Pretendard"/>
              </a:rPr>
              <a:t>예시 — 과제 이름이 바뀌는 순간</a:t>
            </a:r>
          </a:p>
        </p:txBody>
      </p:sp>
      <p:sp>
        <p:nvSpPr>
          <p:cNvPr id="21" name="T v"/>
          <p:cNvSpPr txBox="1"/>
          <p:nvPr/>
        </p:nvSpPr>
        <p:spPr>
          <a:xfrm>
            <a:off x="1238250" y="9321701"/>
            <a:ext cx="5539430" cy="7953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87"/>
              </a:lnSpc>
            </a:pPr>
            <a:r>
              <a:rPr sz="2325" b="1" spc="-46" strike="sngStrike">
                <a:solidFill>
                  <a:srgbClr val="9AA7B8"/>
                </a:solidFill>
                <a:latin typeface="Pretendard"/>
                <a:ea typeface="Pretendard"/>
                <a:cs typeface="Pretendard"/>
              </a:rPr>
              <a:t>축구 데이터 분석</a:t>
            </a:r>
            <a:r>
              <a:rPr sz="2325" b="1" spc="-46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 → </a:t>
            </a:r>
            <a:r>
              <a:rPr sz="2325" b="1" spc="-46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센티미터급 위치 측위 측정</a:t>
            </a:r>
          </a:p>
          <a:p>
            <a:pPr algn="l">
              <a:lnSpc>
                <a:spcPts val="3487"/>
              </a:lnSpc>
            </a:pPr>
            <a:r>
              <a:rPr sz="2325" b="1" spc="-46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3번째 질문까지 내려가야 과제명이 됩니다.</a:t>
            </a:r>
          </a:p>
        </p:txBody>
      </p:sp>
      <p:sp>
        <p:nvSpPr>
          <p:cNvPr id="22" name="B"/>
          <p:cNvSpPr/>
          <p:nvPr/>
        </p:nvSpPr>
        <p:spPr>
          <a:xfrm>
            <a:off x="3505498" y="9533156"/>
            <a:ext cx="2922687" cy="140970"/>
          </a:xfrm>
          <a:prstGeom prst="rect">
            <a:avLst/>
          </a:prstGeom>
          <a:solidFill>
            <a:srgbClr val="9BEB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lightpill"/>
          <p:cNvSpPr/>
          <p:nvPr/>
        </p:nvSpPr>
        <p:spPr>
          <a:xfrm>
            <a:off x="838200" y="11772900"/>
            <a:ext cx="618083" cy="400050"/>
          </a:xfrm>
          <a:prstGeom prst="roundRect">
            <a:avLst>
              <a:gd name="adj" fmla="val 28571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550" y="11849100"/>
            <a:ext cx="351383" cy="247650"/>
          </a:xfrm>
          <a:prstGeom prst="rect">
            <a:avLst/>
          </a:prstGeom>
        </p:spPr>
      </p:pic>
      <p:sp>
        <p:nvSpPr>
          <p:cNvPr id="25" name="T pg"/>
          <p:cNvSpPr txBox="1"/>
          <p:nvPr/>
        </p:nvSpPr>
        <p:spPr>
          <a:xfrm>
            <a:off x="7773591" y="11849100"/>
            <a:ext cx="1813822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왜 → 무엇 → 어떻게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4400"/>
            <a:ext cx="1291644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1" spc="-20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03 · 사업 축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982224" y="923925"/>
            <a:ext cx="532671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66850"/>
            <a:ext cx="6955465" cy="169693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확장 시장은</a:t>
            </a:r>
          </a:p>
          <a:p>
            <a:pPr algn="l">
              <a:lnSpc>
                <a:spcPts val="6612"/>
              </a:lnSpc>
            </a:pPr>
            <a:r>
              <a:rPr sz="5700" b="1" spc="-256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‘지금 지점’</a:t>
            </a:r>
            <a:r>
              <a:rPr sz="5700" b="1" spc="-25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부터 찍습니다</a:t>
            </a:r>
          </a:p>
        </p:txBody>
      </p:sp>
      <p:sp>
        <p:nvSpPr>
          <p:cNvPr id="5" name="T yl"/>
          <p:cNvSpPr txBox="1"/>
          <p:nvPr/>
        </p:nvSpPr>
        <p:spPr>
          <a:xfrm>
            <a:off x="1210866" y="4022527"/>
            <a:ext cx="105658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Pretendard"/>
                <a:ea typeface="Pretendard"/>
                <a:cs typeface="Pretendard"/>
              </a:rPr>
              <a:t>시니어·재활</a:t>
            </a:r>
          </a:p>
        </p:txBody>
      </p:sp>
      <p:sp>
        <p:nvSpPr>
          <p:cNvPr id="6" name="cell"/>
          <p:cNvSpPr/>
          <p:nvPr/>
        </p:nvSpPr>
        <p:spPr>
          <a:xfrm>
            <a:off x="2381250" y="36891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ell"/>
          <p:cNvSpPr/>
          <p:nvPr/>
        </p:nvSpPr>
        <p:spPr>
          <a:xfrm>
            <a:off x="4775150" y="36891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ell"/>
          <p:cNvSpPr/>
          <p:nvPr/>
        </p:nvSpPr>
        <p:spPr>
          <a:xfrm>
            <a:off x="7169051" y="36891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 yl"/>
          <p:cNvSpPr txBox="1"/>
          <p:nvPr/>
        </p:nvSpPr>
        <p:spPr>
          <a:xfrm>
            <a:off x="1391989" y="5051227"/>
            <a:ext cx="864593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Pretendard"/>
                <a:ea typeface="Pretendard"/>
                <a:cs typeface="Pretendard"/>
              </a:rPr>
              <a:t>복싱·줌바</a:t>
            </a:r>
          </a:p>
        </p:txBody>
      </p:sp>
      <p:sp>
        <p:nvSpPr>
          <p:cNvPr id="10" name="cell"/>
          <p:cNvSpPr/>
          <p:nvPr/>
        </p:nvSpPr>
        <p:spPr>
          <a:xfrm>
            <a:off x="2381250" y="47178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ell"/>
          <p:cNvSpPr/>
          <p:nvPr/>
        </p:nvSpPr>
        <p:spPr>
          <a:xfrm>
            <a:off x="4775150" y="47178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ell"/>
          <p:cNvSpPr/>
          <p:nvPr/>
        </p:nvSpPr>
        <p:spPr>
          <a:xfrm>
            <a:off x="7169051" y="47178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633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 yl"/>
          <p:cNvSpPr txBox="1"/>
          <p:nvPr/>
        </p:nvSpPr>
        <p:spPr>
          <a:xfrm>
            <a:off x="1628329" y="6079927"/>
            <a:ext cx="6140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Pretendard"/>
                <a:ea typeface="Pretendard"/>
                <a:cs typeface="Pretendard"/>
              </a:rPr>
              <a:t>태권도</a:t>
            </a:r>
          </a:p>
        </p:txBody>
      </p:sp>
      <p:sp>
        <p:nvSpPr>
          <p:cNvPr id="14" name="cell now"/>
          <p:cNvSpPr/>
          <p:nvPr/>
        </p:nvSpPr>
        <p:spPr>
          <a:xfrm>
            <a:off x="2381250" y="57465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 cell now"/>
          <p:cNvSpPr txBox="1"/>
          <p:nvPr/>
        </p:nvSpPr>
        <p:spPr>
          <a:xfrm>
            <a:off x="2381250" y="5746552"/>
            <a:ext cx="227960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50" b="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지금</a:t>
            </a:r>
          </a:p>
        </p:txBody>
      </p:sp>
      <p:sp>
        <p:nvSpPr>
          <p:cNvPr id="16" name="cell nx"/>
          <p:cNvSpPr/>
          <p:nvPr/>
        </p:nvSpPr>
        <p:spPr>
          <a:xfrm>
            <a:off x="4775150" y="57465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1B4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 cell nx"/>
          <p:cNvSpPr txBox="1"/>
          <p:nvPr/>
        </p:nvSpPr>
        <p:spPr>
          <a:xfrm>
            <a:off x="4775150" y="5746552"/>
            <a:ext cx="227960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50" b="1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8" name="cell nx"/>
          <p:cNvSpPr/>
          <p:nvPr/>
        </p:nvSpPr>
        <p:spPr>
          <a:xfrm>
            <a:off x="7169051" y="5746552"/>
            <a:ext cx="2279600" cy="914400"/>
          </a:xfrm>
          <a:prstGeom prst="roundRect">
            <a:avLst>
              <a:gd name="adj" fmla="val 14583"/>
            </a:avLst>
          </a:prstGeom>
          <a:solidFill>
            <a:srgbClr val="1B4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 cell nx"/>
          <p:cNvSpPr txBox="1"/>
          <p:nvPr/>
        </p:nvSpPr>
        <p:spPr>
          <a:xfrm>
            <a:off x="7169051" y="5746552"/>
            <a:ext cx="2279600" cy="9144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250" b="1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20" name="T xl"/>
          <p:cNvSpPr txBox="1"/>
          <p:nvPr/>
        </p:nvSpPr>
        <p:spPr>
          <a:xfrm>
            <a:off x="3133130" y="6775252"/>
            <a:ext cx="86033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Pretendard"/>
                <a:ea typeface="Pretendard"/>
                <a:cs typeface="Pretendard"/>
              </a:rPr>
              <a:t>신규 창업</a:t>
            </a:r>
          </a:p>
        </p:txBody>
      </p:sp>
      <p:sp>
        <p:nvSpPr>
          <p:cNvPr id="21" name="T xl"/>
          <p:cNvSpPr txBox="1"/>
          <p:nvPr/>
        </p:nvSpPr>
        <p:spPr>
          <a:xfrm>
            <a:off x="5527030" y="6775252"/>
            <a:ext cx="86033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Pretendard"/>
                <a:ea typeface="Pretendard"/>
                <a:cs typeface="Pretendard"/>
              </a:rPr>
              <a:t>공간 전환</a:t>
            </a:r>
          </a:p>
        </p:txBody>
      </p:sp>
      <p:sp>
        <p:nvSpPr>
          <p:cNvPr id="22" name="T xl"/>
          <p:cNvSpPr txBox="1"/>
          <p:nvPr/>
        </p:nvSpPr>
        <p:spPr>
          <a:xfrm>
            <a:off x="8037165" y="6775252"/>
            <a:ext cx="614074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650" b="0">
                <a:solidFill>
                  <a:srgbClr val="A2A7B1"/>
                </a:solidFill>
                <a:latin typeface="Pretendard"/>
                <a:ea typeface="Pretendard"/>
                <a:cs typeface="Pretendard"/>
              </a:rPr>
              <a:t>샵인샵</a:t>
            </a:r>
          </a:p>
        </p:txBody>
      </p:sp>
      <p:sp>
        <p:nvSpPr>
          <p:cNvPr id="23" name="T mxcap"/>
          <p:cNvSpPr txBox="1"/>
          <p:nvPr/>
        </p:nvSpPr>
        <p:spPr>
          <a:xfrm>
            <a:off x="6450211" y="7156252"/>
            <a:ext cx="3216604" cy="2286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500" b="0">
                <a:solidFill>
                  <a:srgbClr val="7F8794"/>
                </a:solidFill>
                <a:latin typeface="Pretendard"/>
                <a:ea typeface="Pretendard"/>
                <a:cs typeface="Pretendard"/>
              </a:rPr>
              <a:t>예시 · x축 도입 공간 / y축 종목·프로그램</a:t>
            </a:r>
          </a:p>
        </p:txBody>
      </p:sp>
      <p:sp>
        <p:nvSpPr>
          <p:cNvPr id="24" name="n"/>
          <p:cNvSpPr/>
          <p:nvPr/>
        </p:nvSpPr>
        <p:spPr>
          <a:xfrm>
            <a:off x="838200" y="7803952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 n"/>
          <p:cNvSpPr txBox="1"/>
          <p:nvPr/>
        </p:nvSpPr>
        <p:spPr>
          <a:xfrm>
            <a:off x="838200" y="7803952"/>
            <a:ext cx="4953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6" name="T t"/>
          <p:cNvSpPr txBox="1"/>
          <p:nvPr/>
        </p:nvSpPr>
        <p:spPr>
          <a:xfrm>
            <a:off x="1562100" y="7803952"/>
            <a:ext cx="4036472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7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지금 있는 지점을 하나로 찍는다</a:t>
            </a:r>
          </a:p>
        </p:txBody>
      </p:sp>
      <p:sp>
        <p:nvSpPr>
          <p:cNvPr id="27" name="T d"/>
          <p:cNvSpPr txBox="1"/>
          <p:nvPr/>
        </p:nvSpPr>
        <p:spPr>
          <a:xfrm>
            <a:off x="1562100" y="8242102"/>
            <a:ext cx="3179058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75" b="0">
                <a:solidFill>
                  <a:srgbClr val="B0B5BD"/>
                </a:solidFill>
                <a:latin typeface="Pretendard"/>
                <a:ea typeface="Pretendard"/>
                <a:cs typeface="Pretendard"/>
              </a:rPr>
              <a:t>“우리는 A시장의 B단계에 있다”</a:t>
            </a:r>
          </a:p>
        </p:txBody>
      </p:sp>
      <p:sp>
        <p:nvSpPr>
          <p:cNvPr id="28" name="n"/>
          <p:cNvSpPr/>
          <p:nvPr/>
        </p:nvSpPr>
        <p:spPr>
          <a:xfrm>
            <a:off x="838200" y="8775502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 n"/>
          <p:cNvSpPr txBox="1"/>
          <p:nvPr/>
        </p:nvSpPr>
        <p:spPr>
          <a:xfrm>
            <a:off x="838200" y="8775502"/>
            <a:ext cx="4953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0" name="T t"/>
          <p:cNvSpPr txBox="1"/>
          <p:nvPr/>
        </p:nvSpPr>
        <p:spPr>
          <a:xfrm>
            <a:off x="1562100" y="8775502"/>
            <a:ext cx="4322802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7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다음 지점으로 가는 이유를 붙인다</a:t>
            </a:r>
          </a:p>
        </p:txBody>
      </p:sp>
      <p:sp>
        <p:nvSpPr>
          <p:cNvPr id="31" name="T d"/>
          <p:cNvSpPr txBox="1"/>
          <p:nvPr/>
        </p:nvSpPr>
        <p:spPr>
          <a:xfrm>
            <a:off x="1562100" y="9213652"/>
            <a:ext cx="3110433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75" b="0">
                <a:solidFill>
                  <a:srgbClr val="B0B5BD"/>
                </a:solidFill>
                <a:latin typeface="Pretendard"/>
                <a:ea typeface="Pretendard"/>
                <a:cs typeface="Pretendard"/>
              </a:rPr>
              <a:t>핵심은 </a:t>
            </a:r>
            <a:r>
              <a:rPr sz="1875" b="1">
                <a:solidFill>
                  <a:srgbClr val="2DD4BF"/>
                </a:solidFill>
                <a:latin typeface="Pretendard"/>
                <a:ea typeface="Pretendard"/>
                <a:cs typeface="Pretendard"/>
              </a:rPr>
              <a:t>같은 기술의 고도화 적용</a:t>
            </a:r>
          </a:p>
        </p:txBody>
      </p:sp>
      <p:sp>
        <p:nvSpPr>
          <p:cNvPr id="32" name="n"/>
          <p:cNvSpPr/>
          <p:nvPr/>
        </p:nvSpPr>
        <p:spPr>
          <a:xfrm>
            <a:off x="838200" y="9747052"/>
            <a:ext cx="495300" cy="4953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 n"/>
          <p:cNvSpPr txBox="1"/>
          <p:nvPr/>
        </p:nvSpPr>
        <p:spPr>
          <a:xfrm>
            <a:off x="838200" y="9747052"/>
            <a:ext cx="495300" cy="4953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1950" b="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4" name="T t"/>
          <p:cNvSpPr txBox="1"/>
          <p:nvPr/>
        </p:nvSpPr>
        <p:spPr>
          <a:xfrm>
            <a:off x="1562100" y="9747052"/>
            <a:ext cx="3681201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550" b="1" spc="-7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칸마다 시점과 숫자를 붙인다</a:t>
            </a:r>
          </a:p>
        </p:txBody>
      </p:sp>
      <p:sp>
        <p:nvSpPr>
          <p:cNvPr id="35" name="T d"/>
          <p:cNvSpPr txBox="1"/>
          <p:nvPr/>
        </p:nvSpPr>
        <p:spPr>
          <a:xfrm>
            <a:off x="1562100" y="10185202"/>
            <a:ext cx="4143274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75" b="0">
                <a:solidFill>
                  <a:srgbClr val="B0B5BD"/>
                </a:solidFill>
                <a:latin typeface="Pretendard"/>
                <a:ea typeface="Pretendard"/>
                <a:cs typeface="Pretendard"/>
              </a:rPr>
              <a:t>그대로 2년짜리 스케일업 스토리가 됩니다</a:t>
            </a:r>
          </a:p>
        </p:txBody>
      </p:sp>
      <p:pic>
        <p:nvPicPr>
          <p:cNvPr id="36" name="IMG logo_symbol.png" descr="logo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1849100"/>
            <a:ext cx="459432" cy="323850"/>
          </a:xfrm>
          <a:prstGeom prst="rect">
            <a:avLst/>
          </a:prstGeom>
        </p:spPr>
      </p:pic>
      <p:pic>
        <p:nvPicPr>
          <p:cNvPr id="37" name="IMG logo_word.png" descr="logo_w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982" y="11891962"/>
            <a:ext cx="1440061" cy="238125"/>
          </a:xfrm>
          <a:prstGeom prst="rect">
            <a:avLst/>
          </a:prstGeom>
        </p:spPr>
      </p:pic>
      <p:sp>
        <p:nvSpPr>
          <p:cNvPr id="38" name="T next"/>
          <p:cNvSpPr txBox="1"/>
          <p:nvPr/>
        </p:nvSpPr>
        <p:spPr>
          <a:xfrm>
            <a:off x="8339882" y="11872912"/>
            <a:ext cx="1213553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1">
                <a:solidFill>
                  <a:srgbClr val="B9BDC5"/>
                </a:solidFill>
                <a:latin typeface="Pretendard"/>
                <a:ea typeface="Pretendard"/>
                <a:cs typeface="Pretendard"/>
              </a:rPr>
              <a:t>마지막 장 →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 eyebrow"/>
          <p:cNvSpPr txBox="1"/>
          <p:nvPr/>
        </p:nvSpPr>
        <p:spPr>
          <a:xfrm>
            <a:off x="838200" y="914400"/>
            <a:ext cx="1238795" cy="2952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950" b="1" spc="-20">
                <a:solidFill>
                  <a:srgbClr val="0F9E8C"/>
                </a:solidFill>
                <a:latin typeface="Pretendard"/>
                <a:ea typeface="Pretendard"/>
                <a:cs typeface="Pretendard"/>
              </a:rPr>
              <a:t>04 · 시작점</a:t>
            </a:r>
          </a:p>
        </p:txBody>
      </p:sp>
      <p:sp>
        <p:nvSpPr>
          <p:cNvPr id="3" name="T pg"/>
          <p:cNvSpPr txBox="1"/>
          <p:nvPr/>
        </p:nvSpPr>
        <p:spPr>
          <a:xfrm>
            <a:off x="8982224" y="923925"/>
            <a:ext cx="532671" cy="2762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800" b="0" spc="-18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5 / 5</a:t>
            </a:r>
          </a:p>
        </p:txBody>
      </p:sp>
      <p:sp>
        <p:nvSpPr>
          <p:cNvPr id="4" name="T H1"/>
          <p:cNvSpPr txBox="1"/>
          <p:nvPr/>
        </p:nvSpPr>
        <p:spPr>
          <a:xfrm>
            <a:off x="838200" y="1457325"/>
            <a:ext cx="8306345" cy="157341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6090"/>
              </a:lnSpc>
            </a:pPr>
            <a:r>
              <a:rPr sz="5250" b="1" spc="-236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순서는 알겠는데,</a:t>
            </a:r>
          </a:p>
          <a:p>
            <a:pPr algn="l">
              <a:lnSpc>
                <a:spcPts val="6090"/>
              </a:lnSpc>
            </a:pPr>
            <a:r>
              <a:rPr sz="5250" b="1" spc="-236">
                <a:solidFill>
                  <a:srgbClr val="0F1A2E"/>
                </a:solidFill>
                <a:latin typeface="Pretendard"/>
                <a:ea typeface="Pretendard"/>
                <a:cs typeface="Pretendard"/>
              </a:rPr>
              <a:t>우리 회사는 지금 어디쯤일까요?</a:t>
            </a:r>
          </a:p>
        </p:txBody>
      </p:sp>
      <p:sp>
        <p:nvSpPr>
          <p:cNvPr id="5" name="shot"/>
          <p:cNvSpPr/>
          <p:nvPr/>
        </p:nvSpPr>
        <p:spPr>
          <a:xfrm>
            <a:off x="838200" y="3480197"/>
            <a:ext cx="8610600" cy="5134421"/>
          </a:xfrm>
          <a:prstGeom prst="roundRect">
            <a:avLst>
              <a:gd name="adj" fmla="val 4452"/>
            </a:avLst>
          </a:prstGeom>
          <a:solidFill>
            <a:srgbClr val="FFFFFF"/>
          </a:solidFill>
          <a:ln w="9525">
            <a:solidFill>
              <a:srgbClr val="E4DF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I"/>
          <p:cNvSpPr/>
          <p:nvPr/>
        </p:nvSpPr>
        <p:spPr>
          <a:xfrm>
            <a:off x="1057275" y="3699272"/>
            <a:ext cx="114300" cy="114300"/>
          </a:xfrm>
          <a:prstGeom prst="ellipse">
            <a:avLst/>
          </a:prstGeom>
          <a:solidFill>
            <a:srgbClr val="E4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I"/>
          <p:cNvSpPr/>
          <p:nvPr/>
        </p:nvSpPr>
        <p:spPr>
          <a:xfrm>
            <a:off x="1247775" y="3699272"/>
            <a:ext cx="114300" cy="114300"/>
          </a:xfrm>
          <a:prstGeom prst="ellipse">
            <a:avLst/>
          </a:prstGeom>
          <a:solidFill>
            <a:srgbClr val="E4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I"/>
          <p:cNvSpPr/>
          <p:nvPr/>
        </p:nvSpPr>
        <p:spPr>
          <a:xfrm>
            <a:off x="1438275" y="3699272"/>
            <a:ext cx="114300" cy="114300"/>
          </a:xfrm>
          <a:prstGeom prst="ellipse">
            <a:avLst/>
          </a:prstGeom>
          <a:solidFill>
            <a:srgbClr val="E4D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IMG map_crop.png" descr="map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275" y="3965972"/>
            <a:ext cx="8172450" cy="4429571"/>
          </a:xfrm>
          <a:prstGeom prst="rect">
            <a:avLst/>
          </a:prstGeom>
        </p:spPr>
      </p:pic>
      <p:sp>
        <p:nvSpPr>
          <p:cNvPr id="10" name="T cap"/>
          <p:cNvSpPr txBox="1"/>
          <p:nvPr/>
        </p:nvSpPr>
        <p:spPr>
          <a:xfrm>
            <a:off x="838200" y="8747968"/>
            <a:ext cx="3635767" cy="2381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575" b="0">
                <a:solidFill>
                  <a:srgbClr val="8C8577"/>
                </a:solidFill>
                <a:latin typeface="Pretendard"/>
                <a:ea typeface="Pretendard"/>
                <a:cs typeface="Pretendard"/>
              </a:rPr>
              <a:t>코파운더 결정지도 — 실제 화면 (자사 사례)</a:t>
            </a:r>
          </a:p>
        </p:txBody>
      </p:sp>
      <p:sp>
        <p:nvSpPr>
          <p:cNvPr id="11" name="T body5"/>
          <p:cNvSpPr txBox="1"/>
          <p:nvPr/>
        </p:nvSpPr>
        <p:spPr>
          <a:xfrm>
            <a:off x="838200" y="9348043"/>
            <a:ext cx="6320016" cy="7614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71"/>
              </a:lnSpc>
            </a:pPr>
            <a:r>
              <a:rPr sz="2175" b="0" spc="-43">
                <a:solidFill>
                  <a:srgbClr val="2B3446"/>
                </a:solidFill>
                <a:latin typeface="Pretendard"/>
                <a:ea typeface="Pretendard"/>
                <a:cs typeface="Pretendard"/>
              </a:rPr>
              <a:t>이익을 이루는 숫자를 결정 단위로 쪼개고,</a:t>
            </a:r>
          </a:p>
          <a:p>
            <a:pPr algn="l">
              <a:lnSpc>
                <a:spcPts val="3371"/>
              </a:lnSpc>
            </a:pPr>
            <a:r>
              <a:rPr sz="2175" b="0" spc="-43">
                <a:solidFill>
                  <a:srgbClr val="2B3446"/>
                </a:solidFill>
                <a:latin typeface="Pretendard"/>
                <a:ea typeface="Pretendard"/>
                <a:cs typeface="Pretendard"/>
              </a:rPr>
              <a:t>지금 재고 있는 곳과 비어 있는 곳을 지도로 보여드립니다.</a:t>
            </a:r>
          </a:p>
        </p:txBody>
      </p:sp>
      <p:sp>
        <p:nvSpPr>
          <p:cNvPr id="12" name="cta"/>
          <p:cNvSpPr/>
          <p:nvPr/>
        </p:nvSpPr>
        <p:spPr>
          <a:xfrm>
            <a:off x="838200" y="10547003"/>
            <a:ext cx="8610600" cy="1181100"/>
          </a:xfrm>
          <a:prstGeom prst="roundRect">
            <a:avLst>
              <a:gd name="adj" fmla="val 17741"/>
            </a:avLst>
          </a:prstGeom>
          <a:solidFill>
            <a:srgbClr val="162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 t"/>
          <p:cNvSpPr txBox="1"/>
          <p:nvPr/>
        </p:nvSpPr>
        <p:spPr>
          <a:xfrm>
            <a:off x="1219200" y="10932765"/>
            <a:ext cx="4464469" cy="4095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2700" b="1" spc="-8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우리 회사 AX 수준 진단받아보기</a:t>
            </a:r>
          </a:p>
        </p:txBody>
      </p:sp>
      <p:sp>
        <p:nvSpPr>
          <p:cNvPr id="14" name="go"/>
          <p:cNvSpPr/>
          <p:nvPr/>
        </p:nvSpPr>
        <p:spPr>
          <a:xfrm>
            <a:off x="8458200" y="10832753"/>
            <a:ext cx="609600" cy="609600"/>
          </a:xfrm>
          <a:prstGeom prst="ellipse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 go"/>
          <p:cNvSpPr txBox="1"/>
          <p:nvPr/>
        </p:nvSpPr>
        <p:spPr>
          <a:xfrm>
            <a:off x="8458200" y="10832753"/>
            <a:ext cx="60960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/>
            <a:r>
              <a:rPr sz="2400" b="1">
                <a:solidFill>
                  <a:srgbClr val="16243D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T fine"/>
          <p:cNvSpPr txBox="1"/>
          <p:nvPr/>
        </p:nvSpPr>
        <p:spPr>
          <a:xfrm>
            <a:off x="838200" y="11899553"/>
            <a:ext cx="6116666" cy="2190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/>
            <a:r>
              <a:rPr sz="1425" b="0">
                <a:solidFill>
                  <a:srgbClr val="9B9486"/>
                </a:solidFill>
                <a:latin typeface="Pretendard"/>
                <a:ea typeface="Pretendard"/>
                <a:cs typeface="Pretendard"/>
              </a:rPr>
              <a:t>프로필 링크 또는 DM으로 문의 · TIPS 선정은 운영사·전담기관 심사로 결정됩니다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TIPS 캐러셀 v1 (편집본)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