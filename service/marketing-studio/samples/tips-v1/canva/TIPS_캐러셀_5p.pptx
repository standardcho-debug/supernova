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4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hip"/>
          <p:cNvSpPr/>
          <p:nvPr/>
        </p:nvSpPr>
        <p:spPr>
          <a:xfrm>
            <a:off x="838200" y="914400"/>
            <a:ext cx="3500140" cy="504825"/>
          </a:xfrm>
          <a:prstGeom prst="roundRect">
            <a:avLst>
              <a:gd name="adj" fmla="val 50000"/>
            </a:avLst>
          </a:prstGeom>
          <a:solidFill>
            <a:srgbClr val="193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 chip"/>
          <p:cNvSpPr txBox="1"/>
          <p:nvPr/>
        </p:nvSpPr>
        <p:spPr>
          <a:xfrm>
            <a:off x="838200" y="914400"/>
            <a:ext cx="3500140" cy="5048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800" b="1" spc="-18">
                <a:solidFill>
                  <a:srgbClr val="2DD4BF"/>
                </a:solidFill>
                <a:latin typeface="Noto Sans KR"/>
                <a:ea typeface="Noto Sans KR"/>
                <a:cs typeface="Noto Sans KR"/>
              </a:rPr>
              <a:t>비개발 대표를 위한 TIPS 준비 노트</a:t>
            </a:r>
          </a:p>
        </p:txBody>
      </p:sp>
      <p:sp>
        <p:nvSpPr>
          <p:cNvPr id="4" name="T pg"/>
          <p:cNvSpPr txBox="1"/>
          <p:nvPr/>
        </p:nvSpPr>
        <p:spPr>
          <a:xfrm>
            <a:off x="8747001" y="1028700"/>
            <a:ext cx="701799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1800" b="0" spc="-18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 / 5</a:t>
            </a:r>
          </a:p>
        </p:txBody>
      </p:sp>
      <p:sp>
        <p:nvSpPr>
          <p:cNvPr id="5" name="T H1"/>
          <p:cNvSpPr txBox="1"/>
          <p:nvPr/>
        </p:nvSpPr>
        <p:spPr>
          <a:xfrm>
            <a:off x="838200" y="2009775"/>
            <a:ext cx="6251525" cy="36150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396"/>
              </a:lnSpc>
            </a:pPr>
            <a:r>
              <a:rPr sz="8100" b="1" spc="-365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TIPS 준비,</a:t>
            </a:r>
          </a:p>
          <a:p>
            <a:pPr algn="l">
              <a:lnSpc>
                <a:spcPts val="9396"/>
              </a:lnSpc>
            </a:pPr>
            <a:r>
              <a:rPr sz="8100" b="1" spc="-365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어디서부터</a:t>
            </a:r>
          </a:p>
          <a:p>
            <a:pPr algn="l">
              <a:lnSpc>
                <a:spcPts val="9396"/>
              </a:lnSpc>
            </a:pPr>
            <a:r>
              <a:rPr sz="8100" b="1" spc="-365">
                <a:solidFill>
                  <a:srgbClr val="2DD4BF"/>
                </a:solidFill>
                <a:latin typeface="Noto Sans KR"/>
                <a:ea typeface="Noto Sans KR"/>
                <a:cs typeface="Noto Sans KR"/>
              </a:rPr>
              <a:t>해야 할까요?</a:t>
            </a:r>
          </a:p>
        </p:txBody>
      </p:sp>
      <p:sp>
        <p:nvSpPr>
          <p:cNvPr id="6" name="T sub"/>
          <p:cNvSpPr txBox="1"/>
          <p:nvPr/>
        </p:nvSpPr>
        <p:spPr>
          <a:xfrm>
            <a:off x="838200" y="6036915"/>
            <a:ext cx="5864944" cy="866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825"/>
              </a:lnSpc>
            </a:pPr>
            <a:r>
              <a:rPr sz="2550" b="0" spc="-51">
                <a:solidFill>
                  <a:srgbClr val="BEC2C9"/>
                </a:solidFill>
                <a:latin typeface="Noto Sans KR"/>
                <a:ea typeface="Noto Sans KR"/>
                <a:cs typeface="Noto Sans KR"/>
              </a:rPr>
              <a:t>사업계획서를 쓰기 전에</a:t>
            </a:r>
          </a:p>
          <a:p>
            <a:pPr algn="l">
              <a:lnSpc>
                <a:spcPts val="3825"/>
              </a:lnSpc>
            </a:pPr>
            <a:r>
              <a:rPr sz="2550" b="0" spc="-51">
                <a:solidFill>
                  <a:srgbClr val="BEC2C9"/>
                </a:solidFill>
                <a:latin typeface="Noto Sans KR"/>
                <a:ea typeface="Noto Sans KR"/>
                <a:cs typeface="Noto Sans KR"/>
              </a:rPr>
              <a:t>먼저 세워야 할 두 개의 축이 있습니다.</a:t>
            </a:r>
          </a:p>
        </p:txBody>
      </p:sp>
      <p:sp>
        <p:nvSpPr>
          <p:cNvPr id="7" name="c a"/>
          <p:cNvSpPr/>
          <p:nvPr/>
        </p:nvSpPr>
        <p:spPr>
          <a:xfrm>
            <a:off x="3619500" y="7143750"/>
            <a:ext cx="4095750" cy="40957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 c a"/>
          <p:cNvSpPr txBox="1"/>
          <p:nvPr/>
        </p:nvSpPr>
        <p:spPr>
          <a:xfrm>
            <a:off x="4362450" y="9001125"/>
            <a:ext cx="1205880" cy="381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550" b="1" spc="-51">
                <a:solidFill>
                  <a:srgbClr val="16243D"/>
                </a:solidFill>
                <a:latin typeface="Noto Sans KR"/>
                <a:ea typeface="Noto Sans KR"/>
                <a:cs typeface="Noto Sans KR"/>
              </a:rPr>
              <a:t>사업 축</a:t>
            </a:r>
          </a:p>
        </p:txBody>
      </p:sp>
      <p:sp>
        <p:nvSpPr>
          <p:cNvPr id="9" name="c b"/>
          <p:cNvSpPr/>
          <p:nvPr/>
        </p:nvSpPr>
        <p:spPr>
          <a:xfrm>
            <a:off x="6286500" y="7143750"/>
            <a:ext cx="4095750" cy="409575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 c b"/>
          <p:cNvSpPr txBox="1"/>
          <p:nvPr/>
        </p:nvSpPr>
        <p:spPr>
          <a:xfrm>
            <a:off x="8369796" y="9001125"/>
            <a:ext cx="1205880" cy="381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550" b="1" spc="-51">
                <a:solidFill>
                  <a:srgbClr val="16243D"/>
                </a:solidFill>
                <a:latin typeface="Noto Sans KR"/>
                <a:ea typeface="Noto Sans KR"/>
                <a:cs typeface="Noto Sans KR"/>
              </a:rPr>
              <a:t>기술 축</a:t>
            </a:r>
          </a:p>
        </p:txBody>
      </p:sp>
      <p:sp>
        <p:nvSpPr>
          <p:cNvPr id="11" name="SPAN"/>
          <p:cNvSpPr/>
          <p:nvPr/>
        </p:nvSpPr>
        <p:spPr>
          <a:xfrm>
            <a:off x="6417022" y="8958262"/>
            <a:ext cx="1167557" cy="466725"/>
          </a:xfrm>
          <a:prstGeom prst="roundRect">
            <a:avLst>
              <a:gd name="adj" fmla="val 20408"/>
            </a:avLst>
          </a:prstGeom>
          <a:solidFill>
            <a:srgbClr val="16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 SPAN"/>
          <p:cNvSpPr txBox="1"/>
          <p:nvPr/>
        </p:nvSpPr>
        <p:spPr>
          <a:xfrm>
            <a:off x="6417022" y="8958262"/>
            <a:ext cx="1167557" cy="4667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R&amp;D 과제</a:t>
            </a:r>
          </a:p>
        </p:txBody>
      </p:sp>
      <p:pic>
        <p:nvPicPr>
          <p:cNvPr id="13" name="IMG logo_symbol.png" descr="logo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791950"/>
            <a:ext cx="540544" cy="381000"/>
          </a:xfrm>
          <a:prstGeom prst="rect">
            <a:avLst/>
          </a:prstGeom>
        </p:spPr>
      </p:pic>
      <p:pic>
        <p:nvPicPr>
          <p:cNvPr id="14" name="IMG logo_word.png" descr="logo_wo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2094" y="11839575"/>
            <a:ext cx="1728043" cy="285750"/>
          </a:xfrm>
          <a:prstGeom prst="rect">
            <a:avLst/>
          </a:prstGeom>
        </p:spPr>
      </p:pic>
      <p:sp>
        <p:nvSpPr>
          <p:cNvPr id="15" name="T next"/>
          <p:cNvSpPr txBox="1"/>
          <p:nvPr/>
        </p:nvSpPr>
        <p:spPr>
          <a:xfrm>
            <a:off x="7725638" y="11844338"/>
            <a:ext cx="1723162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1800" b="1">
                <a:solidFill>
                  <a:srgbClr val="B9BDC5"/>
                </a:solidFill>
                <a:latin typeface="Noto Sans KR"/>
                <a:ea typeface="Noto Sans KR"/>
                <a:cs typeface="Noto Sans KR"/>
              </a:rPr>
              <a:t>넘겨보세요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 eyebrow"/>
          <p:cNvSpPr txBox="1"/>
          <p:nvPr/>
        </p:nvSpPr>
        <p:spPr>
          <a:xfrm>
            <a:off x="838200" y="914400"/>
            <a:ext cx="1521023" cy="2952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950" b="1" spc="-20">
                <a:solidFill>
                  <a:srgbClr val="0F9E8C"/>
                </a:solidFill>
                <a:latin typeface="Noto Sans KR"/>
                <a:ea typeface="Noto Sans KR"/>
                <a:cs typeface="Noto Sans KR"/>
              </a:rPr>
              <a:t>01 · 큰 그림</a:t>
            </a:r>
          </a:p>
        </p:txBody>
      </p:sp>
      <p:sp>
        <p:nvSpPr>
          <p:cNvPr id="3" name="T pg"/>
          <p:cNvSpPr txBox="1"/>
          <p:nvPr/>
        </p:nvSpPr>
        <p:spPr>
          <a:xfrm>
            <a:off x="8747001" y="923925"/>
            <a:ext cx="701799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1800" b="0" spc="-18">
                <a:solidFill>
                  <a:srgbClr val="0F1A2E"/>
                </a:solidFill>
                <a:latin typeface="Noto Sans KR"/>
                <a:ea typeface="Noto Sans KR"/>
                <a:cs typeface="Noto Sans KR"/>
              </a:rPr>
              <a:t>2 / 5</a:t>
            </a:r>
          </a:p>
        </p:txBody>
      </p:sp>
      <p:sp>
        <p:nvSpPr>
          <p:cNvPr id="4" name="T H1"/>
          <p:cNvSpPr txBox="1"/>
          <p:nvPr/>
        </p:nvSpPr>
        <p:spPr>
          <a:xfrm>
            <a:off x="838200" y="1466850"/>
            <a:ext cx="7993559" cy="25366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6612"/>
              </a:lnSpc>
            </a:pPr>
            <a:r>
              <a:rPr sz="5700" b="1" spc="-256">
                <a:solidFill>
                  <a:srgbClr val="0F1A2E"/>
                </a:solidFill>
                <a:latin typeface="Noto Sans KR"/>
                <a:ea typeface="Noto Sans KR"/>
                <a:cs typeface="Noto Sans KR"/>
              </a:rPr>
              <a:t>R&amp;D 과제는</a:t>
            </a:r>
          </a:p>
          <a:p>
            <a:pPr algn="l">
              <a:lnSpc>
                <a:spcPts val="6612"/>
              </a:lnSpc>
            </a:pPr>
            <a:r>
              <a:rPr sz="5700" b="1" spc="-256">
                <a:solidFill>
                  <a:srgbClr val="0F1A2E"/>
                </a:solidFill>
                <a:latin typeface="Noto Sans KR"/>
                <a:ea typeface="Noto Sans KR"/>
                <a:cs typeface="Noto Sans KR"/>
              </a:rPr>
              <a:t>두 축이 만나는 자리에서</a:t>
            </a:r>
          </a:p>
          <a:p>
            <a:pPr algn="l">
              <a:lnSpc>
                <a:spcPts val="6612"/>
              </a:lnSpc>
            </a:pPr>
            <a:r>
              <a:rPr sz="5700" b="1" spc="-256">
                <a:solidFill>
                  <a:srgbClr val="0F1A2E"/>
                </a:solidFill>
                <a:latin typeface="Noto Sans KR"/>
                <a:ea typeface="Noto Sans KR"/>
                <a:cs typeface="Noto Sans KR"/>
              </a:rPr>
              <a:t>나옵니다</a:t>
            </a:r>
          </a:p>
        </p:txBody>
      </p:sp>
      <p:sp>
        <p:nvSpPr>
          <p:cNvPr id="5" name="card cn"/>
          <p:cNvSpPr/>
          <p:nvPr/>
        </p:nvSpPr>
        <p:spPr>
          <a:xfrm>
            <a:off x="838200" y="4605040"/>
            <a:ext cx="8610600" cy="2001589"/>
          </a:xfrm>
          <a:prstGeom prst="roundRect">
            <a:avLst>
              <a:gd name="adj" fmla="val 11420"/>
            </a:avLst>
          </a:prstGeom>
          <a:solidFill>
            <a:srgbClr val="16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 k"/>
          <p:cNvSpPr txBox="1"/>
          <p:nvPr/>
        </p:nvSpPr>
        <p:spPr>
          <a:xfrm>
            <a:off x="1257300" y="4947940"/>
            <a:ext cx="902084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사업 축</a:t>
            </a:r>
          </a:p>
        </p:txBody>
      </p:sp>
      <p:sp>
        <p:nvSpPr>
          <p:cNvPr id="7" name="T t"/>
          <p:cNvSpPr txBox="1"/>
          <p:nvPr/>
        </p:nvSpPr>
        <p:spPr>
          <a:xfrm>
            <a:off x="1257300" y="5300365"/>
            <a:ext cx="4460751" cy="4762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3150" b="1" spc="-94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어디까지 확장 가능한가</a:t>
            </a:r>
          </a:p>
        </p:txBody>
      </p:sp>
      <p:sp>
        <p:nvSpPr>
          <p:cNvPr id="8" name="T d"/>
          <p:cNvSpPr txBox="1"/>
          <p:nvPr/>
        </p:nvSpPr>
        <p:spPr>
          <a:xfrm>
            <a:off x="1257300" y="5919490"/>
            <a:ext cx="5938242" cy="3143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0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“이 기술에 왜 이만큼 투자해야 하나”에 대한 답</a:t>
            </a:r>
          </a:p>
        </p:txBody>
      </p:sp>
      <p:sp>
        <p:nvSpPr>
          <p:cNvPr id="9" name="T arrow"/>
          <p:cNvSpPr txBox="1"/>
          <p:nvPr/>
        </p:nvSpPr>
        <p:spPr>
          <a:xfrm>
            <a:off x="5005239" y="6692354"/>
            <a:ext cx="440717" cy="342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250" b="0">
                <a:solidFill>
                  <a:srgbClr val="9AAABD"/>
                </a:solidFill>
                <a:latin typeface="Noto Sans KR"/>
                <a:ea typeface="Noto Sans KR"/>
                <a:cs typeface="Noto Sans KR"/>
              </a:rPr>
              <a:t>▼</a:t>
            </a:r>
          </a:p>
        </p:txBody>
      </p:sp>
      <p:sp>
        <p:nvSpPr>
          <p:cNvPr id="10" name="card ct"/>
          <p:cNvSpPr/>
          <p:nvPr/>
        </p:nvSpPr>
        <p:spPr>
          <a:xfrm>
            <a:off x="838200" y="7120979"/>
            <a:ext cx="8610600" cy="1992064"/>
          </a:xfrm>
          <a:prstGeom prst="roundRect">
            <a:avLst>
              <a:gd name="adj" fmla="val 11475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 t"/>
          <p:cNvSpPr txBox="1"/>
          <p:nvPr/>
        </p:nvSpPr>
        <p:spPr>
          <a:xfrm>
            <a:off x="2885629" y="7616279"/>
            <a:ext cx="5739929" cy="590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3900" b="1" spc="-117">
                <a:solidFill>
                  <a:srgbClr val="16243D"/>
                </a:solidFill>
                <a:latin typeface="Noto Sans KR"/>
                <a:ea typeface="Noto Sans KR"/>
                <a:cs typeface="Noto Sans KR"/>
              </a:rPr>
              <a:t>우리 회사 코어 기술 엔진</a:t>
            </a:r>
          </a:p>
        </p:txBody>
      </p:sp>
      <p:sp>
        <p:nvSpPr>
          <p:cNvPr id="12" name="T d"/>
          <p:cNvSpPr txBox="1"/>
          <p:nvPr/>
        </p:nvSpPr>
        <p:spPr>
          <a:xfrm>
            <a:off x="3515469" y="8349704"/>
            <a:ext cx="4165141" cy="3143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025" b="1">
                <a:solidFill>
                  <a:srgbClr val="16243D"/>
                </a:solidFill>
                <a:latin typeface="Noto Sans KR"/>
                <a:ea typeface="Noto Sans KR"/>
                <a:cs typeface="Noto Sans KR"/>
              </a:rPr>
              <a:t>두 축이 만나는 자리 = R&amp;D 과제</a:t>
            </a:r>
          </a:p>
        </p:txBody>
      </p:sp>
      <p:sp>
        <p:nvSpPr>
          <p:cNvPr id="13" name="T arrow"/>
          <p:cNvSpPr txBox="1"/>
          <p:nvPr/>
        </p:nvSpPr>
        <p:spPr>
          <a:xfrm>
            <a:off x="5005239" y="9198769"/>
            <a:ext cx="440717" cy="342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250" b="0">
                <a:solidFill>
                  <a:srgbClr val="9AAABD"/>
                </a:solidFill>
                <a:latin typeface="Noto Sans KR"/>
                <a:ea typeface="Noto Sans KR"/>
                <a:cs typeface="Noto Sans KR"/>
              </a:rPr>
              <a:t>▲</a:t>
            </a:r>
          </a:p>
        </p:txBody>
      </p:sp>
      <p:sp>
        <p:nvSpPr>
          <p:cNvPr id="14" name="card cn"/>
          <p:cNvSpPr/>
          <p:nvPr/>
        </p:nvSpPr>
        <p:spPr>
          <a:xfrm>
            <a:off x="838200" y="9627394"/>
            <a:ext cx="8610600" cy="2001589"/>
          </a:xfrm>
          <a:prstGeom prst="roundRect">
            <a:avLst>
              <a:gd name="adj" fmla="val 11420"/>
            </a:avLst>
          </a:prstGeom>
          <a:solidFill>
            <a:srgbClr val="16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 k"/>
          <p:cNvSpPr txBox="1"/>
          <p:nvPr/>
        </p:nvSpPr>
        <p:spPr>
          <a:xfrm>
            <a:off x="1257300" y="9970294"/>
            <a:ext cx="902084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기술 축</a:t>
            </a:r>
          </a:p>
        </p:txBody>
      </p:sp>
      <p:sp>
        <p:nvSpPr>
          <p:cNvPr id="16" name="T t"/>
          <p:cNvSpPr txBox="1"/>
          <p:nvPr/>
        </p:nvSpPr>
        <p:spPr>
          <a:xfrm>
            <a:off x="1257300" y="10322719"/>
            <a:ext cx="4140398" cy="4762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3150" b="1" spc="-94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이 기술이 왜 필요한가</a:t>
            </a:r>
          </a:p>
        </p:txBody>
      </p:sp>
      <p:sp>
        <p:nvSpPr>
          <p:cNvPr id="17" name="T d"/>
          <p:cNvSpPr txBox="1"/>
          <p:nvPr/>
        </p:nvSpPr>
        <p:spPr>
          <a:xfrm>
            <a:off x="1257300" y="10941844"/>
            <a:ext cx="6839396" cy="3143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0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신사업 나열이 아니라, 같은 기술을 넓혀 적용하는 구조</a:t>
            </a:r>
          </a:p>
        </p:txBody>
      </p:sp>
      <p:sp>
        <p:nvSpPr>
          <p:cNvPr id="18" name="lightpill"/>
          <p:cNvSpPr/>
          <p:nvPr/>
        </p:nvSpPr>
        <p:spPr>
          <a:xfrm>
            <a:off x="838200" y="11772900"/>
            <a:ext cx="618083" cy="400050"/>
          </a:xfrm>
          <a:prstGeom prst="roundRect">
            <a:avLst>
              <a:gd name="adj" fmla="val 28571"/>
            </a:avLst>
          </a:prstGeom>
          <a:solidFill>
            <a:srgbClr val="16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IMG logo_symbol.png" descr="logo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550" y="11849100"/>
            <a:ext cx="351383" cy="247650"/>
          </a:xfrm>
          <a:prstGeom prst="rect">
            <a:avLst/>
          </a:prstGeom>
        </p:spPr>
      </p:pic>
      <p:sp>
        <p:nvSpPr>
          <p:cNvPr id="20" name="T pg"/>
          <p:cNvSpPr txBox="1"/>
          <p:nvPr/>
        </p:nvSpPr>
        <p:spPr>
          <a:xfrm>
            <a:off x="7322820" y="11849100"/>
            <a:ext cx="2125980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1650" b="0">
                <a:solidFill>
                  <a:srgbClr val="0F1A2E"/>
                </a:solidFill>
                <a:latin typeface="Noto Sans KR"/>
                <a:ea typeface="Noto Sans KR"/>
                <a:cs typeface="Noto Sans KR"/>
              </a:rPr>
              <a:t>사업 축 ↔ 기술 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 eyebrow"/>
          <p:cNvSpPr txBox="1"/>
          <p:nvPr/>
        </p:nvSpPr>
        <p:spPr>
          <a:xfrm>
            <a:off x="838200" y="914400"/>
            <a:ext cx="1564742" cy="2952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950" b="1" spc="-20">
                <a:solidFill>
                  <a:srgbClr val="0F9E8C"/>
                </a:solidFill>
                <a:latin typeface="Noto Sans KR"/>
                <a:ea typeface="Noto Sans KR"/>
                <a:cs typeface="Noto Sans KR"/>
              </a:rPr>
              <a:t>02 · 기술 축</a:t>
            </a:r>
          </a:p>
        </p:txBody>
      </p:sp>
      <p:sp>
        <p:nvSpPr>
          <p:cNvPr id="3" name="T pg"/>
          <p:cNvSpPr txBox="1"/>
          <p:nvPr/>
        </p:nvSpPr>
        <p:spPr>
          <a:xfrm>
            <a:off x="8747001" y="923925"/>
            <a:ext cx="701799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1800" b="0" spc="-18">
                <a:solidFill>
                  <a:srgbClr val="0F1A2E"/>
                </a:solidFill>
                <a:latin typeface="Noto Sans KR"/>
                <a:ea typeface="Noto Sans KR"/>
                <a:cs typeface="Noto Sans KR"/>
              </a:rPr>
              <a:t>3 / 5</a:t>
            </a:r>
          </a:p>
        </p:txBody>
      </p:sp>
      <p:sp>
        <p:nvSpPr>
          <p:cNvPr id="4" name="T H1"/>
          <p:cNvSpPr txBox="1"/>
          <p:nvPr/>
        </p:nvSpPr>
        <p:spPr>
          <a:xfrm>
            <a:off x="838200" y="1457325"/>
            <a:ext cx="8507574" cy="16557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6438"/>
              </a:lnSpc>
            </a:pPr>
            <a:r>
              <a:rPr sz="5550" b="1" spc="-250">
                <a:solidFill>
                  <a:srgbClr val="0F1A2E"/>
                </a:solidFill>
                <a:latin typeface="Noto Sans KR"/>
                <a:ea typeface="Noto Sans KR"/>
                <a:cs typeface="Noto Sans KR"/>
              </a:rPr>
              <a:t>‘개인화’라고만 쓰면</a:t>
            </a:r>
          </a:p>
          <a:p>
            <a:pPr algn="l">
              <a:lnSpc>
                <a:spcPts val="6438"/>
              </a:lnSpc>
            </a:pPr>
            <a:r>
              <a:rPr sz="5550" b="1" spc="-250">
                <a:solidFill>
                  <a:srgbClr val="0F1A2E"/>
                </a:solidFill>
                <a:latin typeface="Noto Sans KR"/>
                <a:ea typeface="Noto Sans KR"/>
                <a:cs typeface="Noto Sans KR"/>
              </a:rPr>
              <a:t>누구나 하는 기술이 됩니다</a:t>
            </a:r>
          </a:p>
        </p:txBody>
      </p:sp>
      <p:sp>
        <p:nvSpPr>
          <p:cNvPr id="5" name="row"/>
          <p:cNvSpPr/>
          <p:nvPr/>
        </p:nvSpPr>
        <p:spPr>
          <a:xfrm>
            <a:off x="838200" y="3644801"/>
            <a:ext cx="8610600" cy="1428750"/>
          </a:xfrm>
          <a:prstGeom prst="roundRect">
            <a:avLst>
              <a:gd name="adj" fmla="val 14666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 q"/>
          <p:cNvSpPr txBox="1"/>
          <p:nvPr/>
        </p:nvSpPr>
        <p:spPr>
          <a:xfrm>
            <a:off x="1219200" y="4130576"/>
            <a:ext cx="492621" cy="457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3000" b="1" spc="-90">
                <a:solidFill>
                  <a:srgbClr val="0F1A2E"/>
                </a:solidFill>
                <a:latin typeface="Noto Sans KR"/>
                <a:ea typeface="Noto Sans KR"/>
                <a:cs typeface="Noto Sans KR"/>
              </a:rPr>
              <a:t>왜</a:t>
            </a:r>
          </a:p>
        </p:txBody>
      </p:sp>
      <p:sp>
        <p:nvSpPr>
          <p:cNvPr id="7" name="T t"/>
          <p:cNvSpPr txBox="1"/>
          <p:nvPr/>
        </p:nvSpPr>
        <p:spPr>
          <a:xfrm>
            <a:off x="2647950" y="3968651"/>
            <a:ext cx="1168115" cy="4095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700" b="1" spc="-81">
                <a:solidFill>
                  <a:srgbClr val="0F1A2E"/>
                </a:solidFill>
                <a:latin typeface="Noto Sans KR"/>
                <a:ea typeface="Noto Sans KR"/>
                <a:cs typeface="Noto Sans KR"/>
              </a:rPr>
              <a:t>개인화</a:t>
            </a:r>
          </a:p>
        </p:txBody>
      </p:sp>
      <p:sp>
        <p:nvSpPr>
          <p:cNvPr id="8" name="T d"/>
          <p:cNvSpPr txBox="1"/>
          <p:nvPr/>
        </p:nvSpPr>
        <p:spPr>
          <a:xfrm>
            <a:off x="2647950" y="4454426"/>
            <a:ext cx="5288979" cy="2952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950" b="0">
                <a:solidFill>
                  <a:srgbClr val="6B7A90"/>
                </a:solidFill>
                <a:latin typeface="Noto Sans KR"/>
                <a:ea typeface="Noto Sans KR"/>
                <a:cs typeface="Noto Sans KR"/>
              </a:rPr>
              <a:t>여기서 멈추면 모두가 같은 목표를 말합니다</a:t>
            </a:r>
          </a:p>
        </p:txBody>
      </p:sp>
      <p:sp>
        <p:nvSpPr>
          <p:cNvPr id="9" name="row"/>
          <p:cNvSpPr/>
          <p:nvPr/>
        </p:nvSpPr>
        <p:spPr>
          <a:xfrm>
            <a:off x="838200" y="5245001"/>
            <a:ext cx="8610600" cy="1428750"/>
          </a:xfrm>
          <a:prstGeom prst="roundRect">
            <a:avLst>
              <a:gd name="adj" fmla="val 14666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 q"/>
          <p:cNvSpPr txBox="1"/>
          <p:nvPr/>
        </p:nvSpPr>
        <p:spPr>
          <a:xfrm>
            <a:off x="1219200" y="5730776"/>
            <a:ext cx="889992" cy="457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3000" b="1" spc="-90">
                <a:solidFill>
                  <a:srgbClr val="0F1A2E"/>
                </a:solidFill>
                <a:latin typeface="Noto Sans KR"/>
                <a:ea typeface="Noto Sans KR"/>
                <a:cs typeface="Noto Sans KR"/>
              </a:rPr>
              <a:t>무엇</a:t>
            </a:r>
          </a:p>
        </p:txBody>
      </p:sp>
      <p:sp>
        <p:nvSpPr>
          <p:cNvPr id="11" name="T t"/>
          <p:cNvSpPr txBox="1"/>
          <p:nvPr/>
        </p:nvSpPr>
        <p:spPr>
          <a:xfrm>
            <a:off x="2647950" y="5568851"/>
            <a:ext cx="3399606" cy="4095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700" b="1" spc="-81">
                <a:solidFill>
                  <a:srgbClr val="0F1A2E"/>
                </a:solidFill>
                <a:latin typeface="Noto Sans KR"/>
                <a:ea typeface="Noto Sans KR"/>
                <a:cs typeface="Noto Sans KR"/>
              </a:rPr>
              <a:t>무엇을 개인화하는가</a:t>
            </a:r>
          </a:p>
        </p:txBody>
      </p:sp>
      <p:sp>
        <p:nvSpPr>
          <p:cNvPr id="12" name="T d"/>
          <p:cNvSpPr txBox="1"/>
          <p:nvPr/>
        </p:nvSpPr>
        <p:spPr>
          <a:xfrm>
            <a:off x="2647950" y="6054626"/>
            <a:ext cx="3803861" cy="2952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950" b="0">
                <a:solidFill>
                  <a:srgbClr val="6B7A90"/>
                </a:solidFill>
                <a:latin typeface="Noto Sans KR"/>
                <a:ea typeface="Noto Sans KR"/>
                <a:cs typeface="Noto Sans KR"/>
              </a:rPr>
              <a:t>업종마다, 사업마다 달라집니다</a:t>
            </a:r>
          </a:p>
        </p:txBody>
      </p:sp>
      <p:sp>
        <p:nvSpPr>
          <p:cNvPr id="13" name="row hl"/>
          <p:cNvSpPr/>
          <p:nvPr/>
        </p:nvSpPr>
        <p:spPr>
          <a:xfrm>
            <a:off x="838200" y="6845201"/>
            <a:ext cx="8610600" cy="1428750"/>
          </a:xfrm>
          <a:prstGeom prst="roundRect">
            <a:avLst>
              <a:gd name="adj" fmla="val 14666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 q"/>
          <p:cNvSpPr txBox="1"/>
          <p:nvPr/>
        </p:nvSpPr>
        <p:spPr>
          <a:xfrm>
            <a:off x="1219200" y="7330976"/>
            <a:ext cx="1287363" cy="457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3000" b="1" spc="-90">
                <a:solidFill>
                  <a:srgbClr val="16243D"/>
                </a:solidFill>
                <a:latin typeface="Noto Sans KR"/>
                <a:ea typeface="Noto Sans KR"/>
                <a:cs typeface="Noto Sans KR"/>
              </a:rPr>
              <a:t>어떻게</a:t>
            </a:r>
          </a:p>
        </p:txBody>
      </p:sp>
      <p:sp>
        <p:nvSpPr>
          <p:cNvPr id="15" name="T t"/>
          <p:cNvSpPr txBox="1"/>
          <p:nvPr/>
        </p:nvSpPr>
        <p:spPr>
          <a:xfrm>
            <a:off x="2647950" y="7169051"/>
            <a:ext cx="3127809" cy="4095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700" b="1" spc="-81">
                <a:solidFill>
                  <a:srgbClr val="16243D"/>
                </a:solidFill>
                <a:latin typeface="Noto Sans KR"/>
                <a:ea typeface="Noto Sans KR"/>
                <a:cs typeface="Noto Sans KR"/>
              </a:rPr>
              <a:t>우리만의 측정 지표</a:t>
            </a:r>
          </a:p>
        </p:txBody>
      </p:sp>
      <p:sp>
        <p:nvSpPr>
          <p:cNvPr id="16" name="star"/>
          <p:cNvSpPr/>
          <p:nvPr/>
        </p:nvSpPr>
        <p:spPr>
          <a:xfrm>
            <a:off x="5188297" y="7197626"/>
            <a:ext cx="933004" cy="323850"/>
          </a:xfrm>
          <a:prstGeom prst="roundRect">
            <a:avLst>
              <a:gd name="adj" fmla="val 23529"/>
            </a:avLst>
          </a:prstGeom>
          <a:solidFill>
            <a:srgbClr val="16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 star"/>
          <p:cNvSpPr txBox="1"/>
          <p:nvPr/>
        </p:nvSpPr>
        <p:spPr>
          <a:xfrm>
            <a:off x="5188297" y="7197626"/>
            <a:ext cx="933004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650" b="1" spc="-8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★ 과제명</a:t>
            </a:r>
          </a:p>
        </p:txBody>
      </p:sp>
      <p:sp>
        <p:nvSpPr>
          <p:cNvPr id="18" name="T d"/>
          <p:cNvSpPr txBox="1"/>
          <p:nvPr/>
        </p:nvSpPr>
        <p:spPr>
          <a:xfrm>
            <a:off x="2647950" y="7654826"/>
            <a:ext cx="6334125" cy="2952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950" b="0">
                <a:solidFill>
                  <a:srgbClr val="16243D"/>
                </a:solidFill>
                <a:latin typeface="Noto Sans KR"/>
                <a:ea typeface="Noto Sans KR"/>
                <a:cs typeface="Noto Sans KR"/>
              </a:rPr>
              <a:t>고객·회사·팀에 따라 달라지는, 차별점이 생기는 영역</a:t>
            </a:r>
          </a:p>
        </p:txBody>
      </p:sp>
      <p:sp>
        <p:nvSpPr>
          <p:cNvPr id="19" name="ex"/>
          <p:cNvSpPr/>
          <p:nvPr/>
        </p:nvSpPr>
        <p:spPr>
          <a:xfrm>
            <a:off x="838200" y="8597801"/>
            <a:ext cx="8610600" cy="1876425"/>
          </a:xfrm>
          <a:prstGeom prst="roundRect">
            <a:avLst>
              <a:gd name="adj" fmla="val 11167"/>
            </a:avLst>
          </a:prstGeom>
          <a:noFill/>
          <a:ln w="19050">
            <a:solidFill>
              <a:srgbClr val="B8C4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 l"/>
          <p:cNvSpPr txBox="1"/>
          <p:nvPr/>
        </p:nvSpPr>
        <p:spPr>
          <a:xfrm>
            <a:off x="1238250" y="8902601"/>
            <a:ext cx="3515506" cy="266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725" b="1">
                <a:solidFill>
                  <a:srgbClr val="0F9E8C"/>
                </a:solidFill>
                <a:latin typeface="Noto Sans KR"/>
                <a:ea typeface="Noto Sans KR"/>
                <a:cs typeface="Noto Sans KR"/>
              </a:rPr>
              <a:t>예시 — 과제 이름이 바뀌는 순간</a:t>
            </a:r>
          </a:p>
        </p:txBody>
      </p:sp>
      <p:sp>
        <p:nvSpPr>
          <p:cNvPr id="21" name="T v"/>
          <p:cNvSpPr txBox="1"/>
          <p:nvPr/>
        </p:nvSpPr>
        <p:spPr>
          <a:xfrm>
            <a:off x="1238250" y="9321701"/>
            <a:ext cx="6582668" cy="7953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87"/>
              </a:lnSpc>
            </a:pPr>
            <a:r>
              <a:rPr sz="2325" b="1" spc="-46" strike="sngStrike">
                <a:solidFill>
                  <a:srgbClr val="9AA7B8"/>
                </a:solidFill>
                <a:latin typeface="Noto Sans KR"/>
                <a:ea typeface="Noto Sans KR"/>
                <a:cs typeface="Noto Sans KR"/>
              </a:rPr>
              <a:t>축구 데이터 분석</a:t>
            </a:r>
            <a:r>
              <a:rPr sz="2325" b="1" spc="-46">
                <a:solidFill>
                  <a:srgbClr val="0F1A2E"/>
                </a:solidFill>
                <a:latin typeface="Noto Sans KR"/>
                <a:ea typeface="Noto Sans KR"/>
                <a:cs typeface="Noto Sans KR"/>
              </a:rPr>
              <a:t> → </a:t>
            </a:r>
            <a:r>
              <a:rPr sz="2325" b="1" spc="-46">
                <a:solidFill>
                  <a:srgbClr val="0F1A2E"/>
                </a:solidFill>
                <a:latin typeface="Noto Sans KR"/>
                <a:ea typeface="Noto Sans KR"/>
                <a:cs typeface="Noto Sans KR"/>
              </a:rPr>
              <a:t>센티미터급 위치 측위 측정</a:t>
            </a:r>
          </a:p>
          <a:p>
            <a:pPr algn="l">
              <a:lnSpc>
                <a:spcPts val="3487"/>
              </a:lnSpc>
            </a:pPr>
            <a:r>
              <a:rPr sz="2325" b="1" spc="-46">
                <a:solidFill>
                  <a:srgbClr val="0F1A2E"/>
                </a:solidFill>
                <a:latin typeface="Noto Sans KR"/>
                <a:ea typeface="Noto Sans KR"/>
                <a:cs typeface="Noto Sans KR"/>
              </a:rPr>
              <a:t>3번째 질문까지 내려가야 과제명이 됩니다.</a:t>
            </a:r>
          </a:p>
        </p:txBody>
      </p:sp>
      <p:sp>
        <p:nvSpPr>
          <p:cNvPr id="22" name="B"/>
          <p:cNvSpPr/>
          <p:nvPr/>
        </p:nvSpPr>
        <p:spPr>
          <a:xfrm>
            <a:off x="3505498" y="9533156"/>
            <a:ext cx="2922687" cy="140970"/>
          </a:xfrm>
          <a:prstGeom prst="rect">
            <a:avLst/>
          </a:prstGeom>
          <a:solidFill>
            <a:srgbClr val="9B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lightpill"/>
          <p:cNvSpPr/>
          <p:nvPr/>
        </p:nvSpPr>
        <p:spPr>
          <a:xfrm>
            <a:off x="838200" y="11772900"/>
            <a:ext cx="618083" cy="400050"/>
          </a:xfrm>
          <a:prstGeom prst="roundRect">
            <a:avLst>
              <a:gd name="adj" fmla="val 28571"/>
            </a:avLst>
          </a:prstGeom>
          <a:solidFill>
            <a:srgbClr val="16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IMG logo_symbol.png" descr="logo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550" y="11849100"/>
            <a:ext cx="351383" cy="247650"/>
          </a:xfrm>
          <a:prstGeom prst="rect">
            <a:avLst/>
          </a:prstGeom>
        </p:spPr>
      </p:pic>
      <p:sp>
        <p:nvSpPr>
          <p:cNvPr id="25" name="T pg"/>
          <p:cNvSpPr txBox="1"/>
          <p:nvPr/>
        </p:nvSpPr>
        <p:spPr>
          <a:xfrm>
            <a:off x="7175778" y="11849100"/>
            <a:ext cx="2273022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1650" b="0">
                <a:solidFill>
                  <a:srgbClr val="0F1A2E"/>
                </a:solidFill>
                <a:latin typeface="Noto Sans KR"/>
                <a:ea typeface="Noto Sans KR"/>
                <a:cs typeface="Noto Sans KR"/>
              </a:rPr>
              <a:t>왜 → 무엇 → 어떻게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4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 eyebrow"/>
          <p:cNvSpPr txBox="1"/>
          <p:nvPr/>
        </p:nvSpPr>
        <p:spPr>
          <a:xfrm>
            <a:off x="838200" y="914400"/>
            <a:ext cx="1573485" cy="2952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950" b="1" spc="-20">
                <a:solidFill>
                  <a:srgbClr val="2DD4BF"/>
                </a:solidFill>
                <a:latin typeface="Noto Sans KR"/>
                <a:ea typeface="Noto Sans KR"/>
                <a:cs typeface="Noto Sans KR"/>
              </a:rPr>
              <a:t>03 · 사업 축</a:t>
            </a:r>
          </a:p>
        </p:txBody>
      </p:sp>
      <p:sp>
        <p:nvSpPr>
          <p:cNvPr id="3" name="T pg"/>
          <p:cNvSpPr txBox="1"/>
          <p:nvPr/>
        </p:nvSpPr>
        <p:spPr>
          <a:xfrm>
            <a:off x="8747001" y="923925"/>
            <a:ext cx="701799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1800" b="0" spc="-18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 / 5</a:t>
            </a:r>
          </a:p>
        </p:txBody>
      </p:sp>
      <p:sp>
        <p:nvSpPr>
          <p:cNvPr id="4" name="T H1"/>
          <p:cNvSpPr txBox="1"/>
          <p:nvPr/>
        </p:nvSpPr>
        <p:spPr>
          <a:xfrm>
            <a:off x="838200" y="1466850"/>
            <a:ext cx="8252520" cy="16969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6612"/>
              </a:lnSpc>
            </a:pPr>
            <a:r>
              <a:rPr sz="5700" b="1" spc="-256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확장 시장은</a:t>
            </a:r>
          </a:p>
          <a:p>
            <a:pPr algn="l">
              <a:lnSpc>
                <a:spcPts val="6612"/>
              </a:lnSpc>
            </a:pPr>
            <a:r>
              <a:rPr sz="5700" b="1" spc="-256">
                <a:solidFill>
                  <a:srgbClr val="2DD4BF"/>
                </a:solidFill>
                <a:latin typeface="Noto Sans KR"/>
                <a:ea typeface="Noto Sans KR"/>
                <a:cs typeface="Noto Sans KR"/>
              </a:rPr>
              <a:t>‘지금 지점’</a:t>
            </a:r>
            <a:r>
              <a:rPr sz="5700" b="1" spc="-256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부터 찍습니다</a:t>
            </a:r>
          </a:p>
        </p:txBody>
      </p:sp>
      <p:sp>
        <p:nvSpPr>
          <p:cNvPr id="5" name="T yl"/>
          <p:cNvSpPr txBox="1"/>
          <p:nvPr/>
        </p:nvSpPr>
        <p:spPr>
          <a:xfrm>
            <a:off x="1210866" y="4022527"/>
            <a:ext cx="1296293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50" b="0">
                <a:solidFill>
                  <a:srgbClr val="A2A7B1"/>
                </a:solidFill>
                <a:latin typeface="Noto Sans KR"/>
                <a:ea typeface="Noto Sans KR"/>
                <a:cs typeface="Noto Sans KR"/>
              </a:rPr>
              <a:t>시니어·재활</a:t>
            </a:r>
          </a:p>
        </p:txBody>
      </p:sp>
      <p:sp>
        <p:nvSpPr>
          <p:cNvPr id="6" name="cell"/>
          <p:cNvSpPr/>
          <p:nvPr/>
        </p:nvSpPr>
        <p:spPr>
          <a:xfrm>
            <a:off x="2381250" y="3689152"/>
            <a:ext cx="2279600" cy="914400"/>
          </a:xfrm>
          <a:prstGeom prst="roundRect">
            <a:avLst>
              <a:gd name="adj" fmla="val 14583"/>
            </a:avLst>
          </a:prstGeom>
          <a:solidFill>
            <a:srgbClr val="263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cell"/>
          <p:cNvSpPr/>
          <p:nvPr/>
        </p:nvSpPr>
        <p:spPr>
          <a:xfrm>
            <a:off x="4775150" y="3689152"/>
            <a:ext cx="2279600" cy="914400"/>
          </a:xfrm>
          <a:prstGeom prst="roundRect">
            <a:avLst>
              <a:gd name="adj" fmla="val 14583"/>
            </a:avLst>
          </a:prstGeom>
          <a:solidFill>
            <a:srgbClr val="263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ell"/>
          <p:cNvSpPr/>
          <p:nvPr/>
        </p:nvSpPr>
        <p:spPr>
          <a:xfrm>
            <a:off x="7169051" y="3689152"/>
            <a:ext cx="2279600" cy="914400"/>
          </a:xfrm>
          <a:prstGeom prst="roundRect">
            <a:avLst>
              <a:gd name="adj" fmla="val 14583"/>
            </a:avLst>
          </a:prstGeom>
          <a:solidFill>
            <a:srgbClr val="263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 yl"/>
          <p:cNvSpPr txBox="1"/>
          <p:nvPr/>
        </p:nvSpPr>
        <p:spPr>
          <a:xfrm>
            <a:off x="1391989" y="5051227"/>
            <a:ext cx="1069888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50" b="0">
                <a:solidFill>
                  <a:srgbClr val="A2A7B1"/>
                </a:solidFill>
                <a:latin typeface="Noto Sans KR"/>
                <a:ea typeface="Noto Sans KR"/>
                <a:cs typeface="Noto Sans KR"/>
              </a:rPr>
              <a:t>복싱·줌바</a:t>
            </a:r>
          </a:p>
        </p:txBody>
      </p:sp>
      <p:sp>
        <p:nvSpPr>
          <p:cNvPr id="10" name="cell"/>
          <p:cNvSpPr/>
          <p:nvPr/>
        </p:nvSpPr>
        <p:spPr>
          <a:xfrm>
            <a:off x="2381250" y="4717852"/>
            <a:ext cx="2279600" cy="914400"/>
          </a:xfrm>
          <a:prstGeom prst="roundRect">
            <a:avLst>
              <a:gd name="adj" fmla="val 14583"/>
            </a:avLst>
          </a:prstGeom>
          <a:solidFill>
            <a:srgbClr val="263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cell"/>
          <p:cNvSpPr/>
          <p:nvPr/>
        </p:nvSpPr>
        <p:spPr>
          <a:xfrm>
            <a:off x="4775150" y="4717852"/>
            <a:ext cx="2279600" cy="914400"/>
          </a:xfrm>
          <a:prstGeom prst="roundRect">
            <a:avLst>
              <a:gd name="adj" fmla="val 14583"/>
            </a:avLst>
          </a:prstGeom>
          <a:solidFill>
            <a:srgbClr val="263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cell"/>
          <p:cNvSpPr/>
          <p:nvPr/>
        </p:nvSpPr>
        <p:spPr>
          <a:xfrm>
            <a:off x="7169051" y="4717852"/>
            <a:ext cx="2279600" cy="914400"/>
          </a:xfrm>
          <a:prstGeom prst="roundRect">
            <a:avLst>
              <a:gd name="adj" fmla="val 14583"/>
            </a:avLst>
          </a:prstGeom>
          <a:solidFill>
            <a:srgbClr val="263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 yl"/>
          <p:cNvSpPr txBox="1"/>
          <p:nvPr/>
        </p:nvSpPr>
        <p:spPr>
          <a:xfrm>
            <a:off x="1628329" y="6079927"/>
            <a:ext cx="774464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50" b="0">
                <a:solidFill>
                  <a:srgbClr val="A2A7B1"/>
                </a:solidFill>
                <a:latin typeface="Noto Sans KR"/>
                <a:ea typeface="Noto Sans KR"/>
                <a:cs typeface="Noto Sans KR"/>
              </a:rPr>
              <a:t>태권도</a:t>
            </a:r>
          </a:p>
        </p:txBody>
      </p:sp>
      <p:sp>
        <p:nvSpPr>
          <p:cNvPr id="14" name="cell now"/>
          <p:cNvSpPr/>
          <p:nvPr/>
        </p:nvSpPr>
        <p:spPr>
          <a:xfrm>
            <a:off x="2381250" y="5746552"/>
            <a:ext cx="2279600" cy="914400"/>
          </a:xfrm>
          <a:prstGeom prst="roundRect">
            <a:avLst>
              <a:gd name="adj" fmla="val 14583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 cell now"/>
          <p:cNvSpPr txBox="1"/>
          <p:nvPr/>
        </p:nvSpPr>
        <p:spPr>
          <a:xfrm>
            <a:off x="2381250" y="5746552"/>
            <a:ext cx="2279600" cy="914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250" b="1">
                <a:solidFill>
                  <a:srgbClr val="16243D"/>
                </a:solidFill>
                <a:latin typeface="Noto Sans KR"/>
                <a:ea typeface="Noto Sans KR"/>
                <a:cs typeface="Noto Sans KR"/>
              </a:rPr>
              <a:t>지금</a:t>
            </a:r>
          </a:p>
        </p:txBody>
      </p:sp>
      <p:sp>
        <p:nvSpPr>
          <p:cNvPr id="16" name="cell nx"/>
          <p:cNvSpPr/>
          <p:nvPr/>
        </p:nvSpPr>
        <p:spPr>
          <a:xfrm>
            <a:off x="4775150" y="5746552"/>
            <a:ext cx="2279600" cy="914400"/>
          </a:xfrm>
          <a:prstGeom prst="roundRect">
            <a:avLst>
              <a:gd name="adj" fmla="val 14583"/>
            </a:avLst>
          </a:prstGeom>
          <a:solidFill>
            <a:srgbClr val="1B4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 cell nx"/>
          <p:cNvSpPr txBox="1"/>
          <p:nvPr/>
        </p:nvSpPr>
        <p:spPr>
          <a:xfrm>
            <a:off x="4775150" y="5746552"/>
            <a:ext cx="2279600" cy="914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250" b="1">
                <a:solidFill>
                  <a:srgbClr val="2DD4BF"/>
                </a:solidFill>
                <a:latin typeface="Noto Sans KR"/>
                <a:ea typeface="Noto Sans KR"/>
                <a:cs typeface="Noto Sans KR"/>
              </a:rPr>
              <a:t>①</a:t>
            </a:r>
          </a:p>
        </p:txBody>
      </p:sp>
      <p:sp>
        <p:nvSpPr>
          <p:cNvPr id="18" name="cell nx"/>
          <p:cNvSpPr/>
          <p:nvPr/>
        </p:nvSpPr>
        <p:spPr>
          <a:xfrm>
            <a:off x="7169051" y="5746552"/>
            <a:ext cx="2279600" cy="914400"/>
          </a:xfrm>
          <a:prstGeom prst="roundRect">
            <a:avLst>
              <a:gd name="adj" fmla="val 14583"/>
            </a:avLst>
          </a:prstGeom>
          <a:solidFill>
            <a:srgbClr val="1B4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 cell nx"/>
          <p:cNvSpPr txBox="1"/>
          <p:nvPr/>
        </p:nvSpPr>
        <p:spPr>
          <a:xfrm>
            <a:off x="7169051" y="5746552"/>
            <a:ext cx="2279600" cy="914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250" b="1">
                <a:solidFill>
                  <a:srgbClr val="2DD4BF"/>
                </a:solidFill>
                <a:latin typeface="Noto Sans KR"/>
                <a:ea typeface="Noto Sans KR"/>
                <a:cs typeface="Noto Sans KR"/>
              </a:rPr>
              <a:t>②</a:t>
            </a:r>
          </a:p>
        </p:txBody>
      </p:sp>
      <p:sp>
        <p:nvSpPr>
          <p:cNvPr id="20" name="T xl"/>
          <p:cNvSpPr txBox="1"/>
          <p:nvPr/>
        </p:nvSpPr>
        <p:spPr>
          <a:xfrm>
            <a:off x="3133130" y="6775252"/>
            <a:ext cx="1064865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50" b="0">
                <a:solidFill>
                  <a:srgbClr val="A2A7B1"/>
                </a:solidFill>
                <a:latin typeface="Noto Sans KR"/>
                <a:ea typeface="Noto Sans KR"/>
                <a:cs typeface="Noto Sans KR"/>
              </a:rPr>
              <a:t>신규 창업</a:t>
            </a:r>
          </a:p>
        </p:txBody>
      </p:sp>
      <p:sp>
        <p:nvSpPr>
          <p:cNvPr id="21" name="T xl"/>
          <p:cNvSpPr txBox="1"/>
          <p:nvPr/>
        </p:nvSpPr>
        <p:spPr>
          <a:xfrm>
            <a:off x="5527030" y="6775252"/>
            <a:ext cx="1064865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50" b="0">
                <a:solidFill>
                  <a:srgbClr val="A2A7B1"/>
                </a:solidFill>
                <a:latin typeface="Noto Sans KR"/>
                <a:ea typeface="Noto Sans KR"/>
                <a:cs typeface="Noto Sans KR"/>
              </a:rPr>
              <a:t>공간 전환</a:t>
            </a:r>
          </a:p>
        </p:txBody>
      </p:sp>
      <p:sp>
        <p:nvSpPr>
          <p:cNvPr id="22" name="T xl"/>
          <p:cNvSpPr txBox="1"/>
          <p:nvPr/>
        </p:nvSpPr>
        <p:spPr>
          <a:xfrm>
            <a:off x="8037165" y="6775252"/>
            <a:ext cx="774464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50" b="0">
                <a:solidFill>
                  <a:srgbClr val="A2A7B1"/>
                </a:solidFill>
                <a:latin typeface="Noto Sans KR"/>
                <a:ea typeface="Noto Sans KR"/>
                <a:cs typeface="Noto Sans KR"/>
              </a:rPr>
              <a:t>샵인샵</a:t>
            </a:r>
          </a:p>
        </p:txBody>
      </p:sp>
      <p:sp>
        <p:nvSpPr>
          <p:cNvPr id="23" name="T mxcap"/>
          <p:cNvSpPr txBox="1"/>
          <p:nvPr/>
        </p:nvSpPr>
        <p:spPr>
          <a:xfrm>
            <a:off x="5455384" y="7156252"/>
            <a:ext cx="3993416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1500" b="0">
                <a:solidFill>
                  <a:srgbClr val="7F8794"/>
                </a:solidFill>
                <a:latin typeface="Noto Sans KR"/>
                <a:ea typeface="Noto Sans KR"/>
                <a:cs typeface="Noto Sans KR"/>
              </a:rPr>
              <a:t>예시 · x축 도입 공간 / y축 종목·프로그램</a:t>
            </a:r>
          </a:p>
        </p:txBody>
      </p:sp>
      <p:sp>
        <p:nvSpPr>
          <p:cNvPr id="24" name="n"/>
          <p:cNvSpPr/>
          <p:nvPr/>
        </p:nvSpPr>
        <p:spPr>
          <a:xfrm>
            <a:off x="838200" y="7803952"/>
            <a:ext cx="495300" cy="4953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 n"/>
          <p:cNvSpPr txBox="1"/>
          <p:nvPr/>
        </p:nvSpPr>
        <p:spPr>
          <a:xfrm>
            <a:off x="838200" y="7803952"/>
            <a:ext cx="495300" cy="495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950" b="1">
                <a:solidFill>
                  <a:srgbClr val="16243D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26" name="T t"/>
          <p:cNvSpPr txBox="1"/>
          <p:nvPr/>
        </p:nvSpPr>
        <p:spPr>
          <a:xfrm>
            <a:off x="1562100" y="7803952"/>
            <a:ext cx="4810311" cy="381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550" b="1" spc="-76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지금 있는 지점을 하나로 찍는다</a:t>
            </a:r>
          </a:p>
        </p:txBody>
      </p:sp>
      <p:sp>
        <p:nvSpPr>
          <p:cNvPr id="27" name="T d"/>
          <p:cNvSpPr txBox="1"/>
          <p:nvPr/>
        </p:nvSpPr>
        <p:spPr>
          <a:xfrm>
            <a:off x="1562100" y="8242102"/>
            <a:ext cx="3799210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875" b="0">
                <a:solidFill>
                  <a:srgbClr val="B0B5BD"/>
                </a:solidFill>
                <a:latin typeface="Noto Sans KR"/>
                <a:ea typeface="Noto Sans KR"/>
                <a:cs typeface="Noto Sans KR"/>
              </a:rPr>
              <a:t>“우리는 A시장의 B단계에 있다”</a:t>
            </a:r>
          </a:p>
        </p:txBody>
      </p:sp>
      <p:sp>
        <p:nvSpPr>
          <p:cNvPr id="28" name="n"/>
          <p:cNvSpPr/>
          <p:nvPr/>
        </p:nvSpPr>
        <p:spPr>
          <a:xfrm>
            <a:off x="838200" y="8775502"/>
            <a:ext cx="495300" cy="4953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 n"/>
          <p:cNvSpPr txBox="1"/>
          <p:nvPr/>
        </p:nvSpPr>
        <p:spPr>
          <a:xfrm>
            <a:off x="838200" y="8775502"/>
            <a:ext cx="495300" cy="495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950" b="1">
                <a:solidFill>
                  <a:srgbClr val="16243D"/>
                </a:solidFill>
                <a:latin typeface="Noto Sans KR"/>
                <a:ea typeface="Noto Sans KR"/>
                <a:cs typeface="Noto Sans KR"/>
              </a:rPr>
              <a:t>2</a:t>
            </a:r>
          </a:p>
        </p:txBody>
      </p:sp>
      <p:sp>
        <p:nvSpPr>
          <p:cNvPr id="30" name="T t"/>
          <p:cNvSpPr txBox="1"/>
          <p:nvPr/>
        </p:nvSpPr>
        <p:spPr>
          <a:xfrm>
            <a:off x="1562100" y="8775502"/>
            <a:ext cx="5147965" cy="381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550" b="1" spc="-76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다음 지점으로 가는 이유를 붙인다</a:t>
            </a:r>
          </a:p>
        </p:txBody>
      </p:sp>
      <p:sp>
        <p:nvSpPr>
          <p:cNvPr id="31" name="T d"/>
          <p:cNvSpPr txBox="1"/>
          <p:nvPr/>
        </p:nvSpPr>
        <p:spPr>
          <a:xfrm>
            <a:off x="1562100" y="9213652"/>
            <a:ext cx="3718285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875" b="0">
                <a:solidFill>
                  <a:srgbClr val="B0B5BD"/>
                </a:solidFill>
                <a:latin typeface="Noto Sans KR"/>
                <a:ea typeface="Noto Sans KR"/>
                <a:cs typeface="Noto Sans KR"/>
              </a:rPr>
              <a:t>핵심은 </a:t>
            </a:r>
            <a:r>
              <a:rPr sz="1875" b="1">
                <a:solidFill>
                  <a:srgbClr val="2DD4BF"/>
                </a:solidFill>
                <a:latin typeface="Noto Sans KR"/>
                <a:ea typeface="Noto Sans KR"/>
                <a:cs typeface="Noto Sans KR"/>
              </a:rPr>
              <a:t>같은 기술의 고도화 적용</a:t>
            </a:r>
          </a:p>
        </p:txBody>
      </p:sp>
      <p:sp>
        <p:nvSpPr>
          <p:cNvPr id="32" name="n"/>
          <p:cNvSpPr/>
          <p:nvPr/>
        </p:nvSpPr>
        <p:spPr>
          <a:xfrm>
            <a:off x="838200" y="9747052"/>
            <a:ext cx="495300" cy="4953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 n"/>
          <p:cNvSpPr txBox="1"/>
          <p:nvPr/>
        </p:nvSpPr>
        <p:spPr>
          <a:xfrm>
            <a:off x="838200" y="9747052"/>
            <a:ext cx="495300" cy="495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950" b="1">
                <a:solidFill>
                  <a:srgbClr val="16243D"/>
                </a:solidFill>
                <a:latin typeface="Noto Sans KR"/>
                <a:ea typeface="Noto Sans KR"/>
                <a:cs typeface="Noto Sans KR"/>
              </a:rPr>
              <a:t>3</a:t>
            </a:r>
          </a:p>
        </p:txBody>
      </p:sp>
      <p:sp>
        <p:nvSpPr>
          <p:cNvPr id="34" name="T t"/>
          <p:cNvSpPr txBox="1"/>
          <p:nvPr/>
        </p:nvSpPr>
        <p:spPr>
          <a:xfrm>
            <a:off x="1562100" y="9747052"/>
            <a:ext cx="4391360" cy="381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550" b="1" spc="-76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칸마다 시점과 숫자를 붙인다</a:t>
            </a:r>
          </a:p>
        </p:txBody>
      </p:sp>
      <p:sp>
        <p:nvSpPr>
          <p:cNvPr id="35" name="T d"/>
          <p:cNvSpPr txBox="1"/>
          <p:nvPr/>
        </p:nvSpPr>
        <p:spPr>
          <a:xfrm>
            <a:off x="1562100" y="10185202"/>
            <a:ext cx="4936257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875" b="0">
                <a:solidFill>
                  <a:srgbClr val="B0B5BD"/>
                </a:solidFill>
                <a:latin typeface="Noto Sans KR"/>
                <a:ea typeface="Noto Sans KR"/>
                <a:cs typeface="Noto Sans KR"/>
              </a:rPr>
              <a:t>그대로 2년짜리 스케일업 스토리가 됩니다</a:t>
            </a:r>
          </a:p>
        </p:txBody>
      </p:sp>
      <p:pic>
        <p:nvPicPr>
          <p:cNvPr id="36" name="IMG logo_symbol.png" descr="logo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849100"/>
            <a:ext cx="459432" cy="323850"/>
          </a:xfrm>
          <a:prstGeom prst="rect">
            <a:avLst/>
          </a:prstGeom>
        </p:spPr>
      </p:pic>
      <p:pic>
        <p:nvPicPr>
          <p:cNvPr id="37" name="IMG logo_word.png" descr="logo_wo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0982" y="11891962"/>
            <a:ext cx="1440061" cy="238125"/>
          </a:xfrm>
          <a:prstGeom prst="rect">
            <a:avLst/>
          </a:prstGeom>
        </p:spPr>
      </p:pic>
      <p:sp>
        <p:nvSpPr>
          <p:cNvPr id="38" name="T next"/>
          <p:cNvSpPr txBox="1"/>
          <p:nvPr/>
        </p:nvSpPr>
        <p:spPr>
          <a:xfrm>
            <a:off x="7911956" y="11872912"/>
            <a:ext cx="1536844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1800" b="1">
                <a:solidFill>
                  <a:srgbClr val="B9BDC5"/>
                </a:solidFill>
                <a:latin typeface="Noto Sans KR"/>
                <a:ea typeface="Noto Sans KR"/>
                <a:cs typeface="Noto Sans KR"/>
              </a:rPr>
              <a:t>마지막 장 →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 eyebrow"/>
          <p:cNvSpPr txBox="1"/>
          <p:nvPr/>
        </p:nvSpPr>
        <p:spPr>
          <a:xfrm>
            <a:off x="838200" y="914400"/>
            <a:ext cx="1511164" cy="2952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950" b="1" spc="-20">
                <a:solidFill>
                  <a:srgbClr val="0F9E8C"/>
                </a:solidFill>
                <a:latin typeface="Noto Sans KR"/>
                <a:ea typeface="Noto Sans KR"/>
                <a:cs typeface="Noto Sans KR"/>
              </a:rPr>
              <a:t>04 · 시작점</a:t>
            </a:r>
          </a:p>
        </p:txBody>
      </p:sp>
      <p:sp>
        <p:nvSpPr>
          <p:cNvPr id="3" name="T pg"/>
          <p:cNvSpPr txBox="1"/>
          <p:nvPr/>
        </p:nvSpPr>
        <p:spPr>
          <a:xfrm>
            <a:off x="8747001" y="923925"/>
            <a:ext cx="701799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1800" b="0" spc="-18">
                <a:solidFill>
                  <a:srgbClr val="0F1A2E"/>
                </a:solidFill>
                <a:latin typeface="Noto Sans KR"/>
                <a:ea typeface="Noto Sans KR"/>
                <a:cs typeface="Noto Sans KR"/>
              </a:rPr>
              <a:t>5 / 5</a:t>
            </a:r>
          </a:p>
        </p:txBody>
      </p:sp>
      <p:sp>
        <p:nvSpPr>
          <p:cNvPr id="4" name="T H1"/>
          <p:cNvSpPr txBox="1"/>
          <p:nvPr/>
        </p:nvSpPr>
        <p:spPr>
          <a:xfrm>
            <a:off x="838200" y="1457325"/>
            <a:ext cx="9448800" cy="157341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6090"/>
              </a:lnSpc>
            </a:pPr>
            <a:r>
              <a:rPr sz="5250" b="1" spc="-236">
                <a:solidFill>
                  <a:srgbClr val="0F1A2E"/>
                </a:solidFill>
                <a:latin typeface="Noto Sans KR"/>
                <a:ea typeface="Noto Sans KR"/>
                <a:cs typeface="Noto Sans KR"/>
              </a:rPr>
              <a:t>순서는 알겠는데,</a:t>
            </a:r>
          </a:p>
          <a:p>
            <a:pPr algn="l">
              <a:lnSpc>
                <a:spcPts val="6090"/>
              </a:lnSpc>
            </a:pPr>
            <a:r>
              <a:rPr sz="5250" b="1" spc="-236">
                <a:solidFill>
                  <a:srgbClr val="0F1A2E"/>
                </a:solidFill>
                <a:latin typeface="Noto Sans KR"/>
                <a:ea typeface="Noto Sans KR"/>
                <a:cs typeface="Noto Sans KR"/>
              </a:rPr>
              <a:t>우리 회사는 지금 어디쯤일까요?</a:t>
            </a:r>
          </a:p>
        </p:txBody>
      </p:sp>
      <p:sp>
        <p:nvSpPr>
          <p:cNvPr id="5" name="shot"/>
          <p:cNvSpPr/>
          <p:nvPr/>
        </p:nvSpPr>
        <p:spPr>
          <a:xfrm>
            <a:off x="838200" y="3480197"/>
            <a:ext cx="8610600" cy="5134421"/>
          </a:xfrm>
          <a:prstGeom prst="roundRect">
            <a:avLst>
              <a:gd name="adj" fmla="val 4452"/>
            </a:avLst>
          </a:prstGeom>
          <a:solidFill>
            <a:srgbClr val="FFFFFF"/>
          </a:solidFill>
          <a:ln w="9525">
            <a:solidFill>
              <a:srgbClr val="E4D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I"/>
          <p:cNvSpPr/>
          <p:nvPr/>
        </p:nvSpPr>
        <p:spPr>
          <a:xfrm>
            <a:off x="1057275" y="3699272"/>
            <a:ext cx="114300" cy="114300"/>
          </a:xfrm>
          <a:prstGeom prst="ellipse">
            <a:avLst/>
          </a:prstGeom>
          <a:solidFill>
            <a:srgbClr val="E4D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I"/>
          <p:cNvSpPr/>
          <p:nvPr/>
        </p:nvSpPr>
        <p:spPr>
          <a:xfrm>
            <a:off x="1247775" y="3699272"/>
            <a:ext cx="114300" cy="114300"/>
          </a:xfrm>
          <a:prstGeom prst="ellipse">
            <a:avLst/>
          </a:prstGeom>
          <a:solidFill>
            <a:srgbClr val="E4D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I"/>
          <p:cNvSpPr/>
          <p:nvPr/>
        </p:nvSpPr>
        <p:spPr>
          <a:xfrm>
            <a:off x="1438275" y="3699272"/>
            <a:ext cx="114300" cy="114300"/>
          </a:xfrm>
          <a:prstGeom prst="ellipse">
            <a:avLst/>
          </a:prstGeom>
          <a:solidFill>
            <a:srgbClr val="E4D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IMG map_crop.png" descr="map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275" y="3965972"/>
            <a:ext cx="8172450" cy="4429571"/>
          </a:xfrm>
          <a:prstGeom prst="rect">
            <a:avLst/>
          </a:prstGeom>
        </p:spPr>
      </p:pic>
      <p:sp>
        <p:nvSpPr>
          <p:cNvPr id="10" name="T cap"/>
          <p:cNvSpPr txBox="1"/>
          <p:nvPr/>
        </p:nvSpPr>
        <p:spPr>
          <a:xfrm>
            <a:off x="838200" y="8747968"/>
            <a:ext cx="4337782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575" b="0">
                <a:solidFill>
                  <a:srgbClr val="8C8577"/>
                </a:solidFill>
                <a:latin typeface="Noto Sans KR"/>
                <a:ea typeface="Noto Sans KR"/>
                <a:cs typeface="Noto Sans KR"/>
              </a:rPr>
              <a:t>코파운더 결정지도 — 실제 화면 (자사 사례)</a:t>
            </a:r>
          </a:p>
        </p:txBody>
      </p:sp>
      <p:sp>
        <p:nvSpPr>
          <p:cNvPr id="11" name="T body5"/>
          <p:cNvSpPr txBox="1"/>
          <p:nvPr/>
        </p:nvSpPr>
        <p:spPr>
          <a:xfrm>
            <a:off x="838200" y="9348043"/>
            <a:ext cx="7503170" cy="7614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71"/>
              </a:lnSpc>
            </a:pPr>
            <a:r>
              <a:rPr sz="2175" b="0" spc="-43">
                <a:solidFill>
                  <a:srgbClr val="2B3446"/>
                </a:solidFill>
                <a:latin typeface="Noto Sans KR"/>
                <a:ea typeface="Noto Sans KR"/>
                <a:cs typeface="Noto Sans KR"/>
              </a:rPr>
              <a:t>이익을 이루는 숫자를 결정 단위로 쪼개고,</a:t>
            </a:r>
          </a:p>
          <a:p>
            <a:pPr algn="l">
              <a:lnSpc>
                <a:spcPts val="3371"/>
              </a:lnSpc>
            </a:pPr>
            <a:r>
              <a:rPr sz="2175" b="0" spc="-43">
                <a:solidFill>
                  <a:srgbClr val="2B3446"/>
                </a:solidFill>
                <a:latin typeface="Noto Sans KR"/>
                <a:ea typeface="Noto Sans KR"/>
                <a:cs typeface="Noto Sans KR"/>
              </a:rPr>
              <a:t>지금 재고 있는 곳과 비어 있는 곳을 지도로 보여드립니다.</a:t>
            </a:r>
          </a:p>
        </p:txBody>
      </p:sp>
      <p:sp>
        <p:nvSpPr>
          <p:cNvPr id="12" name="cta"/>
          <p:cNvSpPr/>
          <p:nvPr/>
        </p:nvSpPr>
        <p:spPr>
          <a:xfrm>
            <a:off x="838200" y="10547003"/>
            <a:ext cx="8610600" cy="1181100"/>
          </a:xfrm>
          <a:prstGeom prst="roundRect">
            <a:avLst>
              <a:gd name="adj" fmla="val 17741"/>
            </a:avLst>
          </a:prstGeom>
          <a:solidFill>
            <a:srgbClr val="16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 t"/>
          <p:cNvSpPr txBox="1"/>
          <p:nvPr/>
        </p:nvSpPr>
        <p:spPr>
          <a:xfrm>
            <a:off x="1219200" y="10932765"/>
            <a:ext cx="5315024" cy="4095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700" b="1" spc="-8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우리 회사 AX 수준 진단받아보기</a:t>
            </a:r>
          </a:p>
        </p:txBody>
      </p:sp>
      <p:sp>
        <p:nvSpPr>
          <p:cNvPr id="14" name="go"/>
          <p:cNvSpPr/>
          <p:nvPr/>
        </p:nvSpPr>
        <p:spPr>
          <a:xfrm>
            <a:off x="8458200" y="10832753"/>
            <a:ext cx="609600" cy="6096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 go"/>
          <p:cNvSpPr txBox="1"/>
          <p:nvPr/>
        </p:nvSpPr>
        <p:spPr>
          <a:xfrm>
            <a:off x="8458200" y="10832753"/>
            <a:ext cx="60960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400" b="1">
                <a:solidFill>
                  <a:srgbClr val="16243D"/>
                </a:solidFill>
                <a:latin typeface="Noto Sans KR"/>
                <a:ea typeface="Noto Sans KR"/>
                <a:cs typeface="Noto Sans KR"/>
              </a:rPr>
              <a:t>→</a:t>
            </a:r>
          </a:p>
        </p:txBody>
      </p:sp>
      <p:sp>
        <p:nvSpPr>
          <p:cNvPr id="16" name="T fine"/>
          <p:cNvSpPr txBox="1"/>
          <p:nvPr/>
        </p:nvSpPr>
        <p:spPr>
          <a:xfrm>
            <a:off x="838200" y="11899553"/>
            <a:ext cx="7263371" cy="2190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425" b="0">
                <a:solidFill>
                  <a:srgbClr val="9B9486"/>
                </a:solidFill>
                <a:latin typeface="Noto Sans KR"/>
                <a:ea typeface="Noto Sans KR"/>
                <a:cs typeface="Noto Sans KR"/>
              </a:rPr>
              <a:t>프로필 링크 또는 DM으로 문의 · TIPS 선정은 운영사·전담기관 심사로 결정됩니다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TIPS 캐러셀 v1 (편집본)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