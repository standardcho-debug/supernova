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838200" y="914400"/>
            <a:ext cx="3724424" cy="502890"/>
          </a:xfrm>
          <a:prstGeom prst="roundRect">
            <a:avLst>
              <a:gd name="adj" fmla="val 50000"/>
            </a:avLst>
          </a:prstGeom>
          <a:solidFill>
            <a:srgbClr val="19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 chip"/>
          <p:cNvSpPr txBox="1"/>
          <p:nvPr/>
        </p:nvSpPr>
        <p:spPr>
          <a:xfrm>
            <a:off x="838200" y="914400"/>
            <a:ext cx="3724424" cy="5028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160"/>
              </a:lnSpc>
            </a:pPr>
            <a:r>
              <a:rPr sz="1800" b="1" spc="-18">
                <a:solidFill>
                  <a:srgbClr val="2DD4BF"/>
                </a:solidFill>
                <a:latin typeface="Noto Sans KR"/>
                <a:ea typeface="Noto Sans KR"/>
                <a:cs typeface="Noto Sans KR"/>
              </a:rPr>
              <a:t>비개발 대표를 위한 TIPS 준비 노트</a:t>
            </a:r>
          </a:p>
        </p:txBody>
      </p:sp>
      <p:sp>
        <p:nvSpPr>
          <p:cNvPr id="4" name="T pg"/>
          <p:cNvSpPr txBox="1"/>
          <p:nvPr/>
        </p:nvSpPr>
        <p:spPr>
          <a:xfrm>
            <a:off x="8755320" y="1020128"/>
            <a:ext cx="693480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160"/>
              </a:lnSpc>
            </a:pPr>
            <a:r>
              <a:rPr sz="1800" b="0" spc="-1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 / 5</a:t>
            </a:r>
          </a:p>
        </p:txBody>
      </p:sp>
      <p:sp>
        <p:nvSpPr>
          <p:cNvPr id="5" name="T H1"/>
          <p:cNvSpPr txBox="1"/>
          <p:nvPr/>
        </p:nvSpPr>
        <p:spPr>
          <a:xfrm>
            <a:off x="838200" y="2020794"/>
            <a:ext cx="6627502" cy="35796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96"/>
              </a:lnSpc>
            </a:pPr>
            <a:r>
              <a:rPr sz="8100" b="1" spc="-365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TIPS 준비,</a:t>
            </a:r>
          </a:p>
          <a:p>
            <a:pPr algn="l">
              <a:lnSpc>
                <a:spcPts val="9396"/>
              </a:lnSpc>
            </a:pPr>
            <a:r>
              <a:rPr sz="8100" b="1" spc="-365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어디서부터</a:t>
            </a:r>
          </a:p>
          <a:p>
            <a:pPr algn="l">
              <a:lnSpc>
                <a:spcPts val="9396"/>
              </a:lnSpc>
            </a:pPr>
            <a:r>
              <a:rPr sz="8100" b="1" spc="-365">
                <a:solidFill>
                  <a:srgbClr val="2DD4BF"/>
                </a:solidFill>
                <a:latin typeface="Noto Sans KR"/>
                <a:ea typeface="Noto Sans KR"/>
                <a:cs typeface="Noto Sans KR"/>
              </a:rPr>
              <a:t>해야 할까요?</a:t>
            </a:r>
          </a:p>
        </p:txBody>
      </p:sp>
      <p:sp>
        <p:nvSpPr>
          <p:cNvPr id="6" name="T sub"/>
          <p:cNvSpPr txBox="1"/>
          <p:nvPr/>
        </p:nvSpPr>
        <p:spPr>
          <a:xfrm>
            <a:off x="838200" y="5987355"/>
            <a:ext cx="6296732" cy="971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825"/>
              </a:lnSpc>
            </a:pPr>
            <a:r>
              <a:rPr sz="2550" b="0" spc="-51">
                <a:solidFill>
                  <a:srgbClr val="BEC2C9"/>
                </a:solidFill>
                <a:latin typeface="Noto Sans KR"/>
                <a:ea typeface="Noto Sans KR"/>
                <a:cs typeface="Noto Sans KR"/>
              </a:rPr>
              <a:t>사업계획서를 쓰기 전에</a:t>
            </a:r>
          </a:p>
          <a:p>
            <a:pPr algn="l">
              <a:lnSpc>
                <a:spcPts val="3825"/>
              </a:lnSpc>
            </a:pPr>
            <a:r>
              <a:rPr sz="2550" b="0" spc="-51">
                <a:solidFill>
                  <a:srgbClr val="BEC2C9"/>
                </a:solidFill>
                <a:latin typeface="Noto Sans KR"/>
                <a:ea typeface="Noto Sans KR"/>
                <a:cs typeface="Noto Sans KR"/>
              </a:rPr>
              <a:t>먼저 세워야 할 두 개의 축이 있습니다.</a:t>
            </a:r>
          </a:p>
        </p:txBody>
      </p:sp>
      <p:sp>
        <p:nvSpPr>
          <p:cNvPr id="7" name="c a"/>
          <p:cNvSpPr/>
          <p:nvPr/>
        </p:nvSpPr>
        <p:spPr>
          <a:xfrm>
            <a:off x="3619500" y="7143750"/>
            <a:ext cx="4095750" cy="4095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 c a"/>
          <p:cNvSpPr txBox="1"/>
          <p:nvPr/>
        </p:nvSpPr>
        <p:spPr>
          <a:xfrm>
            <a:off x="4362450" y="8988683"/>
            <a:ext cx="1293502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60"/>
              </a:lnSpc>
            </a:pPr>
            <a:r>
              <a:rPr sz="2550" b="1" spc="-51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사업 축</a:t>
            </a:r>
          </a:p>
        </p:txBody>
      </p:sp>
      <p:sp>
        <p:nvSpPr>
          <p:cNvPr id="9" name="c b"/>
          <p:cNvSpPr/>
          <p:nvPr/>
        </p:nvSpPr>
        <p:spPr>
          <a:xfrm>
            <a:off x="6286500" y="7143750"/>
            <a:ext cx="4095750" cy="409575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 c b"/>
          <p:cNvSpPr txBox="1"/>
          <p:nvPr/>
        </p:nvSpPr>
        <p:spPr>
          <a:xfrm>
            <a:off x="8299698" y="8988683"/>
            <a:ext cx="1293502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60"/>
              </a:lnSpc>
            </a:pPr>
            <a:r>
              <a:rPr sz="2550" b="1" spc="-51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기술 축</a:t>
            </a:r>
          </a:p>
        </p:txBody>
      </p:sp>
      <p:sp>
        <p:nvSpPr>
          <p:cNvPr id="11" name="SPAN"/>
          <p:cNvSpPr/>
          <p:nvPr/>
        </p:nvSpPr>
        <p:spPr>
          <a:xfrm>
            <a:off x="6381006" y="8959155"/>
            <a:ext cx="1239738" cy="464790"/>
          </a:xfrm>
          <a:prstGeom prst="roundRect">
            <a:avLst>
              <a:gd name="adj" fmla="val 20493"/>
            </a:avLst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 SPAN"/>
          <p:cNvSpPr txBox="1"/>
          <p:nvPr/>
        </p:nvSpPr>
        <p:spPr>
          <a:xfrm>
            <a:off x="6381006" y="8959155"/>
            <a:ext cx="1239738" cy="4647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160"/>
              </a:lnSpc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R&amp;D 과제</a:t>
            </a:r>
          </a:p>
        </p:txBody>
      </p:sp>
      <p:pic>
        <p:nvPicPr>
          <p:cNvPr id="13" name="IMG logo_symbol.png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791950"/>
            <a:ext cx="540544" cy="381000"/>
          </a:xfrm>
          <a:prstGeom prst="rect">
            <a:avLst/>
          </a:prstGeom>
        </p:spPr>
      </p:pic>
      <p:pic>
        <p:nvPicPr>
          <p:cNvPr id="14" name="IMG logo_word.png" descr="logo_w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094" y="11839575"/>
            <a:ext cx="1728043" cy="285750"/>
          </a:xfrm>
          <a:prstGeom prst="rect">
            <a:avLst/>
          </a:prstGeom>
        </p:spPr>
      </p:pic>
      <p:sp>
        <p:nvSpPr>
          <p:cNvPr id="15" name="T next"/>
          <p:cNvSpPr txBox="1"/>
          <p:nvPr/>
        </p:nvSpPr>
        <p:spPr>
          <a:xfrm>
            <a:off x="7606070" y="11836658"/>
            <a:ext cx="1842730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160"/>
              </a:lnSpc>
            </a:pPr>
            <a:r>
              <a:rPr sz="1800" b="1">
                <a:solidFill>
                  <a:srgbClr val="B9BDC5"/>
                </a:solidFill>
                <a:latin typeface="Noto Sans KR"/>
                <a:ea typeface="Noto Sans KR"/>
                <a:cs typeface="Noto Sans KR"/>
              </a:rPr>
              <a:t>넘겨보세요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 eyebrow"/>
          <p:cNvSpPr txBox="1"/>
          <p:nvPr/>
        </p:nvSpPr>
        <p:spPr>
          <a:xfrm>
            <a:off x="838200" y="913448"/>
            <a:ext cx="1648085" cy="2971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950" b="1" spc="-20">
                <a:solidFill>
                  <a:srgbClr val="0F9E8C"/>
                </a:solidFill>
                <a:latin typeface="Noto Sans KR"/>
                <a:ea typeface="Noto Sans KR"/>
                <a:cs typeface="Noto Sans KR"/>
              </a:rPr>
              <a:t>01 · 큰 그림</a:t>
            </a:r>
          </a:p>
        </p:txBody>
      </p:sp>
      <p:sp>
        <p:nvSpPr>
          <p:cNvPr id="3" name="T pg"/>
          <p:cNvSpPr txBox="1"/>
          <p:nvPr/>
        </p:nvSpPr>
        <p:spPr>
          <a:xfrm>
            <a:off x="8755320" y="917138"/>
            <a:ext cx="693480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160"/>
              </a:lnSpc>
            </a:pPr>
            <a:r>
              <a:rPr sz="1800" b="0" spc="-18">
                <a:solidFill>
                  <a:srgbClr val="0F1A2E"/>
                </a:solidFill>
                <a:latin typeface="Noto Sans KR"/>
                <a:ea typeface="Noto Sans KR"/>
                <a:cs typeface="Noto Sans KR"/>
              </a:rPr>
              <a:t>2 / 5</a:t>
            </a:r>
          </a:p>
        </p:txBody>
      </p:sp>
      <p:sp>
        <p:nvSpPr>
          <p:cNvPr id="4" name="T H1"/>
          <p:cNvSpPr txBox="1"/>
          <p:nvPr/>
        </p:nvSpPr>
        <p:spPr>
          <a:xfrm>
            <a:off x="838200" y="1477399"/>
            <a:ext cx="8651007" cy="2519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612"/>
              </a:lnSpc>
            </a:pPr>
            <a:r>
              <a:rPr sz="5700" b="1" spc="-256">
                <a:solidFill>
                  <a:srgbClr val="0F1A2E"/>
                </a:solidFill>
                <a:latin typeface="Noto Sans KR"/>
                <a:ea typeface="Noto Sans KR"/>
                <a:cs typeface="Noto Sans KR"/>
              </a:rPr>
              <a:t>R&amp;D 과제는</a:t>
            </a:r>
          </a:p>
          <a:p>
            <a:pPr algn="l">
              <a:lnSpc>
                <a:spcPts val="6612"/>
              </a:lnSpc>
            </a:pPr>
            <a:r>
              <a:rPr sz="5700" b="1" spc="-256">
                <a:solidFill>
                  <a:srgbClr val="0F1A2E"/>
                </a:solidFill>
                <a:latin typeface="Noto Sans KR"/>
                <a:ea typeface="Noto Sans KR"/>
                <a:cs typeface="Noto Sans KR"/>
              </a:rPr>
              <a:t>두 축이 만나는 자리에서</a:t>
            </a:r>
          </a:p>
          <a:p>
            <a:pPr algn="l">
              <a:lnSpc>
                <a:spcPts val="6612"/>
              </a:lnSpc>
            </a:pPr>
            <a:r>
              <a:rPr sz="5700" b="1" spc="-256">
                <a:solidFill>
                  <a:srgbClr val="0F1A2E"/>
                </a:solidFill>
                <a:latin typeface="Noto Sans KR"/>
                <a:ea typeface="Noto Sans KR"/>
                <a:cs typeface="Noto Sans KR"/>
              </a:rPr>
              <a:t>나옵니다</a:t>
            </a:r>
          </a:p>
        </p:txBody>
      </p:sp>
      <p:sp>
        <p:nvSpPr>
          <p:cNvPr id="5" name="card cn"/>
          <p:cNvSpPr/>
          <p:nvPr/>
        </p:nvSpPr>
        <p:spPr>
          <a:xfrm>
            <a:off x="838200" y="4606826"/>
            <a:ext cx="8610600" cy="2003375"/>
          </a:xfrm>
          <a:prstGeom prst="roundRect">
            <a:avLst>
              <a:gd name="adj" fmla="val 11410"/>
            </a:avLst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 k"/>
          <p:cNvSpPr txBox="1"/>
          <p:nvPr/>
        </p:nvSpPr>
        <p:spPr>
          <a:xfrm>
            <a:off x="1257300" y="4941153"/>
            <a:ext cx="964034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사업 축</a:t>
            </a:r>
          </a:p>
        </p:txBody>
      </p:sp>
      <p:sp>
        <p:nvSpPr>
          <p:cNvPr id="7" name="T t"/>
          <p:cNvSpPr txBox="1"/>
          <p:nvPr/>
        </p:nvSpPr>
        <p:spPr>
          <a:xfrm>
            <a:off x="1257300" y="5293549"/>
            <a:ext cx="4795986" cy="4800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9"/>
              </a:lnSpc>
            </a:pPr>
            <a:r>
              <a:rPr sz="3150" b="1" spc="-94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어디까지 확장 가능한가</a:t>
            </a:r>
          </a:p>
        </p:txBody>
      </p:sp>
      <p:sp>
        <p:nvSpPr>
          <p:cNvPr id="8" name="T d"/>
          <p:cNvSpPr txBox="1"/>
          <p:nvPr/>
        </p:nvSpPr>
        <p:spPr>
          <a:xfrm>
            <a:off x="1257300" y="5893772"/>
            <a:ext cx="6354403" cy="3729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</a:pPr>
            <a:r>
              <a:rPr sz="20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“이 기술에 왜 이만큼 투자해야 하나”에 대한 답</a:t>
            </a:r>
          </a:p>
        </p:txBody>
      </p:sp>
      <p:sp>
        <p:nvSpPr>
          <p:cNvPr id="9" name="T arrow"/>
          <p:cNvSpPr txBox="1"/>
          <p:nvPr/>
        </p:nvSpPr>
        <p:spPr>
          <a:xfrm>
            <a:off x="5000625" y="6695926"/>
            <a:ext cx="452438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0">
                <a:solidFill>
                  <a:srgbClr val="9AAABD"/>
                </a:solidFill>
                <a:latin typeface="Noto Sans KR"/>
                <a:ea typeface="Noto Sans KR"/>
                <a:cs typeface="Noto Sans KR"/>
              </a:rPr>
              <a:t>▼</a:t>
            </a:r>
          </a:p>
        </p:txBody>
      </p:sp>
      <p:sp>
        <p:nvSpPr>
          <p:cNvPr id="10" name="card ct"/>
          <p:cNvSpPr/>
          <p:nvPr/>
        </p:nvSpPr>
        <p:spPr>
          <a:xfrm>
            <a:off x="838200" y="7124551"/>
            <a:ext cx="8610600" cy="1995785"/>
          </a:xfrm>
          <a:prstGeom prst="roundRect">
            <a:avLst>
              <a:gd name="adj" fmla="val 11454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 t"/>
          <p:cNvSpPr txBox="1"/>
          <p:nvPr/>
        </p:nvSpPr>
        <p:spPr>
          <a:xfrm>
            <a:off x="2691705" y="7613184"/>
            <a:ext cx="6224736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680"/>
              </a:lnSpc>
            </a:pPr>
            <a:r>
              <a:rPr sz="3900" b="1" spc="-117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우리 회사 코어 기술 엔진</a:t>
            </a:r>
          </a:p>
        </p:txBody>
      </p:sp>
      <p:sp>
        <p:nvSpPr>
          <p:cNvPr id="12" name="T d"/>
          <p:cNvSpPr txBox="1"/>
          <p:nvPr/>
        </p:nvSpPr>
        <p:spPr>
          <a:xfrm>
            <a:off x="3393877" y="8327708"/>
            <a:ext cx="4469309" cy="3729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</a:pPr>
            <a:r>
              <a:rPr sz="2025" b="1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두 축이 만나는 자리 = R&amp;D 과제</a:t>
            </a:r>
          </a:p>
        </p:txBody>
      </p:sp>
      <p:sp>
        <p:nvSpPr>
          <p:cNvPr id="13" name="T arrow"/>
          <p:cNvSpPr txBox="1"/>
          <p:nvPr/>
        </p:nvSpPr>
        <p:spPr>
          <a:xfrm>
            <a:off x="5000625" y="9206061"/>
            <a:ext cx="452438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0">
                <a:solidFill>
                  <a:srgbClr val="9AAABD"/>
                </a:solidFill>
                <a:latin typeface="Noto Sans KR"/>
                <a:ea typeface="Noto Sans KR"/>
                <a:cs typeface="Noto Sans KR"/>
              </a:rPr>
              <a:t>▲</a:t>
            </a:r>
          </a:p>
        </p:txBody>
      </p:sp>
      <p:sp>
        <p:nvSpPr>
          <p:cNvPr id="14" name="card cn"/>
          <p:cNvSpPr/>
          <p:nvPr/>
        </p:nvSpPr>
        <p:spPr>
          <a:xfrm>
            <a:off x="838200" y="9634686"/>
            <a:ext cx="8610600" cy="2003375"/>
          </a:xfrm>
          <a:prstGeom prst="roundRect">
            <a:avLst>
              <a:gd name="adj" fmla="val 11410"/>
            </a:avLst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 k"/>
          <p:cNvSpPr txBox="1"/>
          <p:nvPr/>
        </p:nvSpPr>
        <p:spPr>
          <a:xfrm>
            <a:off x="1257300" y="9969014"/>
            <a:ext cx="964034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기술 축</a:t>
            </a:r>
          </a:p>
        </p:txBody>
      </p:sp>
      <p:sp>
        <p:nvSpPr>
          <p:cNvPr id="16" name="T t"/>
          <p:cNvSpPr txBox="1"/>
          <p:nvPr/>
        </p:nvSpPr>
        <p:spPr>
          <a:xfrm>
            <a:off x="1257300" y="10321409"/>
            <a:ext cx="4475820" cy="4800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9"/>
              </a:lnSpc>
            </a:pPr>
            <a:r>
              <a:rPr sz="3150" b="1" spc="-94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 기술이 왜 필요한가</a:t>
            </a:r>
          </a:p>
        </p:txBody>
      </p:sp>
      <p:sp>
        <p:nvSpPr>
          <p:cNvPr id="17" name="T d"/>
          <p:cNvSpPr txBox="1"/>
          <p:nvPr/>
        </p:nvSpPr>
        <p:spPr>
          <a:xfrm>
            <a:off x="1257300" y="10921633"/>
            <a:ext cx="7321600" cy="3729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</a:pPr>
            <a:r>
              <a:rPr sz="20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신사업 나열이 아니라, 같은 기술을 넓혀 적용하는 구조</a:t>
            </a:r>
          </a:p>
        </p:txBody>
      </p:sp>
      <p:sp>
        <p:nvSpPr>
          <p:cNvPr id="18" name="lightpill"/>
          <p:cNvSpPr/>
          <p:nvPr/>
        </p:nvSpPr>
        <p:spPr>
          <a:xfrm>
            <a:off x="838200" y="11772900"/>
            <a:ext cx="618083" cy="400050"/>
          </a:xfrm>
          <a:prstGeom prst="roundRect">
            <a:avLst>
              <a:gd name="adj" fmla="val 28571"/>
            </a:avLst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IMG logo_symbol.png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11849100"/>
            <a:ext cx="351383" cy="247650"/>
          </a:xfrm>
          <a:prstGeom prst="rect">
            <a:avLst/>
          </a:prstGeom>
        </p:spPr>
      </p:pic>
      <p:sp>
        <p:nvSpPr>
          <p:cNvPr id="20" name="T pg"/>
          <p:cNvSpPr txBox="1"/>
          <p:nvPr/>
        </p:nvSpPr>
        <p:spPr>
          <a:xfrm>
            <a:off x="7272129" y="11845260"/>
            <a:ext cx="2176671" cy="2514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979"/>
              </a:lnSpc>
            </a:pPr>
            <a:r>
              <a:rPr sz="1650" b="0">
                <a:solidFill>
                  <a:srgbClr val="0F1A2E"/>
                </a:solidFill>
                <a:latin typeface="Noto Sans KR"/>
                <a:ea typeface="Noto Sans KR"/>
                <a:cs typeface="Noto Sans KR"/>
              </a:rPr>
              <a:t>사업 축 ↔ 기술 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 eyebrow"/>
          <p:cNvSpPr txBox="1"/>
          <p:nvPr/>
        </p:nvSpPr>
        <p:spPr>
          <a:xfrm>
            <a:off x="838200" y="913448"/>
            <a:ext cx="1648085" cy="2971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950" b="1" spc="-20">
                <a:solidFill>
                  <a:srgbClr val="0F9E8C"/>
                </a:solidFill>
                <a:latin typeface="Noto Sans KR"/>
                <a:ea typeface="Noto Sans KR"/>
                <a:cs typeface="Noto Sans KR"/>
              </a:rPr>
              <a:t>02 · 기술 축</a:t>
            </a:r>
          </a:p>
        </p:txBody>
      </p:sp>
      <p:sp>
        <p:nvSpPr>
          <p:cNvPr id="3" name="T pg"/>
          <p:cNvSpPr txBox="1"/>
          <p:nvPr/>
        </p:nvSpPr>
        <p:spPr>
          <a:xfrm>
            <a:off x="8755320" y="917138"/>
            <a:ext cx="693480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160"/>
              </a:lnSpc>
            </a:pPr>
            <a:r>
              <a:rPr sz="1800" b="0" spc="-18">
                <a:solidFill>
                  <a:srgbClr val="0F1A2E"/>
                </a:solidFill>
                <a:latin typeface="Noto Sans KR"/>
                <a:ea typeface="Noto Sans KR"/>
                <a:cs typeface="Noto Sans KR"/>
              </a:rPr>
              <a:t>3 / 5</a:t>
            </a:r>
          </a:p>
        </p:txBody>
      </p:sp>
      <p:sp>
        <p:nvSpPr>
          <p:cNvPr id="4" name="T H1"/>
          <p:cNvSpPr txBox="1"/>
          <p:nvPr/>
        </p:nvSpPr>
        <p:spPr>
          <a:xfrm>
            <a:off x="838200" y="1474160"/>
            <a:ext cx="9196648" cy="16351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438"/>
              </a:lnSpc>
            </a:pPr>
            <a:r>
              <a:rPr sz="5550" b="1" spc="-250">
                <a:solidFill>
                  <a:srgbClr val="0F1A2E"/>
                </a:solidFill>
                <a:latin typeface="Noto Sans KR"/>
                <a:ea typeface="Noto Sans KR"/>
                <a:cs typeface="Noto Sans KR"/>
              </a:rPr>
              <a:t>‘개인화’라고만 쓰면</a:t>
            </a:r>
          </a:p>
          <a:p>
            <a:pPr algn="l">
              <a:lnSpc>
                <a:spcPts val="6438"/>
              </a:lnSpc>
            </a:pPr>
            <a:r>
              <a:rPr sz="5550" b="1" spc="-250">
                <a:solidFill>
                  <a:srgbClr val="0F1A2E"/>
                </a:solidFill>
                <a:latin typeface="Noto Sans KR"/>
                <a:ea typeface="Noto Sans KR"/>
                <a:cs typeface="Noto Sans KR"/>
              </a:rPr>
              <a:t>누구나 하는 기술이 됩니다</a:t>
            </a:r>
          </a:p>
        </p:txBody>
      </p:sp>
      <p:sp>
        <p:nvSpPr>
          <p:cNvPr id="5" name="row"/>
          <p:cNvSpPr/>
          <p:nvPr/>
        </p:nvSpPr>
        <p:spPr>
          <a:xfrm>
            <a:off x="838200" y="3646587"/>
            <a:ext cx="8610600" cy="1432322"/>
          </a:xfrm>
          <a:prstGeom prst="roundRect">
            <a:avLst>
              <a:gd name="adj" fmla="val 1463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 q"/>
          <p:cNvSpPr txBox="1"/>
          <p:nvPr/>
        </p:nvSpPr>
        <p:spPr>
          <a:xfrm>
            <a:off x="1219200" y="4134148"/>
            <a:ext cx="519224" cy="457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1" spc="-90">
                <a:solidFill>
                  <a:srgbClr val="0F1A2E"/>
                </a:solidFill>
                <a:latin typeface="Noto Sans KR"/>
                <a:ea typeface="Noto Sans KR"/>
                <a:cs typeface="Noto Sans KR"/>
              </a:rPr>
              <a:t>왜</a:t>
            </a:r>
          </a:p>
        </p:txBody>
      </p:sp>
      <p:sp>
        <p:nvSpPr>
          <p:cNvPr id="7" name="T t"/>
          <p:cNvSpPr txBox="1"/>
          <p:nvPr/>
        </p:nvSpPr>
        <p:spPr>
          <a:xfrm>
            <a:off x="2647950" y="3964722"/>
            <a:ext cx="1239738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40"/>
              </a:lnSpc>
            </a:pPr>
            <a:r>
              <a:rPr sz="2700" b="1" spc="-81">
                <a:solidFill>
                  <a:srgbClr val="0F1A2E"/>
                </a:solidFill>
                <a:latin typeface="Noto Sans KR"/>
                <a:ea typeface="Noto Sans KR"/>
                <a:cs typeface="Noto Sans KR"/>
              </a:rPr>
              <a:t>개인화</a:t>
            </a:r>
          </a:p>
        </p:txBody>
      </p:sp>
      <p:sp>
        <p:nvSpPr>
          <p:cNvPr id="8" name="T d"/>
          <p:cNvSpPr txBox="1"/>
          <p:nvPr/>
        </p:nvSpPr>
        <p:spPr>
          <a:xfrm>
            <a:off x="2647950" y="4457045"/>
            <a:ext cx="5655097" cy="2971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950" b="0">
                <a:solidFill>
                  <a:srgbClr val="6B7A90"/>
                </a:solidFill>
                <a:latin typeface="Noto Sans KR"/>
                <a:ea typeface="Noto Sans KR"/>
                <a:cs typeface="Noto Sans KR"/>
              </a:rPr>
              <a:t>여기서 멈추면 모두가 같은 목표를 말합니다</a:t>
            </a:r>
          </a:p>
        </p:txBody>
      </p:sp>
      <p:sp>
        <p:nvSpPr>
          <p:cNvPr id="9" name="row"/>
          <p:cNvSpPr/>
          <p:nvPr/>
        </p:nvSpPr>
        <p:spPr>
          <a:xfrm>
            <a:off x="838200" y="5250359"/>
            <a:ext cx="8610600" cy="1432322"/>
          </a:xfrm>
          <a:prstGeom prst="roundRect">
            <a:avLst>
              <a:gd name="adj" fmla="val 1463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 q"/>
          <p:cNvSpPr txBox="1"/>
          <p:nvPr/>
        </p:nvSpPr>
        <p:spPr>
          <a:xfrm>
            <a:off x="1219200" y="5737920"/>
            <a:ext cx="943012" cy="457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1" spc="-90">
                <a:solidFill>
                  <a:srgbClr val="0F1A2E"/>
                </a:solidFill>
                <a:latin typeface="Noto Sans KR"/>
                <a:ea typeface="Noto Sans KR"/>
                <a:cs typeface="Noto Sans KR"/>
              </a:rPr>
              <a:t>무엇</a:t>
            </a:r>
          </a:p>
        </p:txBody>
      </p:sp>
      <p:sp>
        <p:nvSpPr>
          <p:cNvPr id="11" name="T t"/>
          <p:cNvSpPr txBox="1"/>
          <p:nvPr/>
        </p:nvSpPr>
        <p:spPr>
          <a:xfrm>
            <a:off x="2647950" y="5568494"/>
            <a:ext cx="3635871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40"/>
              </a:lnSpc>
            </a:pPr>
            <a:r>
              <a:rPr sz="2700" b="1" spc="-81">
                <a:solidFill>
                  <a:srgbClr val="0F1A2E"/>
                </a:solidFill>
                <a:latin typeface="Noto Sans KR"/>
                <a:ea typeface="Noto Sans KR"/>
                <a:cs typeface="Noto Sans KR"/>
              </a:rPr>
              <a:t>무엇을 개인화하는가</a:t>
            </a:r>
          </a:p>
        </p:txBody>
      </p:sp>
      <p:sp>
        <p:nvSpPr>
          <p:cNvPr id="12" name="T d"/>
          <p:cNvSpPr txBox="1"/>
          <p:nvPr/>
        </p:nvSpPr>
        <p:spPr>
          <a:xfrm>
            <a:off x="2647950" y="6060817"/>
            <a:ext cx="4057427" cy="2971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950" b="0">
                <a:solidFill>
                  <a:srgbClr val="6B7A90"/>
                </a:solidFill>
                <a:latin typeface="Noto Sans KR"/>
                <a:ea typeface="Noto Sans KR"/>
                <a:cs typeface="Noto Sans KR"/>
              </a:rPr>
              <a:t>업종마다, 사업마다 달라집니다</a:t>
            </a:r>
          </a:p>
        </p:txBody>
      </p:sp>
      <p:sp>
        <p:nvSpPr>
          <p:cNvPr id="13" name="row hl"/>
          <p:cNvSpPr/>
          <p:nvPr/>
        </p:nvSpPr>
        <p:spPr>
          <a:xfrm>
            <a:off x="838200" y="6854130"/>
            <a:ext cx="8610600" cy="1432322"/>
          </a:xfrm>
          <a:prstGeom prst="roundRect">
            <a:avLst>
              <a:gd name="adj" fmla="val 1463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 q"/>
          <p:cNvSpPr txBox="1"/>
          <p:nvPr/>
        </p:nvSpPr>
        <p:spPr>
          <a:xfrm>
            <a:off x="1219200" y="7341691"/>
            <a:ext cx="1366986" cy="457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1" spc="-90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어떻게</a:t>
            </a:r>
          </a:p>
        </p:txBody>
      </p:sp>
      <p:sp>
        <p:nvSpPr>
          <p:cNvPr id="15" name="T t"/>
          <p:cNvSpPr txBox="1"/>
          <p:nvPr/>
        </p:nvSpPr>
        <p:spPr>
          <a:xfrm>
            <a:off x="2647950" y="7172265"/>
            <a:ext cx="3361469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40"/>
              </a:lnSpc>
            </a:pPr>
            <a:r>
              <a:rPr sz="2700" b="1" spc="-81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우리만의 측정 지표</a:t>
            </a:r>
          </a:p>
        </p:txBody>
      </p:sp>
      <p:sp>
        <p:nvSpPr>
          <p:cNvPr id="16" name="star"/>
          <p:cNvSpPr/>
          <p:nvPr/>
        </p:nvSpPr>
        <p:spPr>
          <a:xfrm>
            <a:off x="5375225" y="7216080"/>
            <a:ext cx="985689" cy="327571"/>
          </a:xfrm>
          <a:prstGeom prst="roundRect">
            <a:avLst>
              <a:gd name="adj" fmla="val 23262"/>
            </a:avLst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 star"/>
          <p:cNvSpPr txBox="1"/>
          <p:nvPr/>
        </p:nvSpPr>
        <p:spPr>
          <a:xfrm>
            <a:off x="5375225" y="7216080"/>
            <a:ext cx="985689" cy="3275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979"/>
              </a:lnSpc>
            </a:pPr>
            <a:r>
              <a:rPr sz="1650" b="1" spc="-8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★ 과제명</a:t>
            </a:r>
          </a:p>
        </p:txBody>
      </p:sp>
      <p:sp>
        <p:nvSpPr>
          <p:cNvPr id="18" name="T d"/>
          <p:cNvSpPr txBox="1"/>
          <p:nvPr/>
        </p:nvSpPr>
        <p:spPr>
          <a:xfrm>
            <a:off x="2647950" y="7664589"/>
            <a:ext cx="6768517" cy="2971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950" b="0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고객·회사·팀에 따라 달라지는, 차별점이 생기는 영역</a:t>
            </a:r>
          </a:p>
        </p:txBody>
      </p:sp>
      <p:sp>
        <p:nvSpPr>
          <p:cNvPr id="19" name="ex"/>
          <p:cNvSpPr/>
          <p:nvPr/>
        </p:nvSpPr>
        <p:spPr>
          <a:xfrm>
            <a:off x="838200" y="8610302"/>
            <a:ext cx="8610600" cy="1872555"/>
          </a:xfrm>
          <a:prstGeom prst="roundRect">
            <a:avLst>
              <a:gd name="adj" fmla="val 11190"/>
            </a:avLst>
          </a:prstGeom>
          <a:noFill/>
          <a:ln w="19050">
            <a:solidFill>
              <a:srgbClr val="B8C4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 l"/>
          <p:cNvSpPr txBox="1"/>
          <p:nvPr/>
        </p:nvSpPr>
        <p:spPr>
          <a:xfrm>
            <a:off x="1238250" y="8907482"/>
            <a:ext cx="3747306" cy="2628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725" b="1">
                <a:solidFill>
                  <a:srgbClr val="0F9E8C"/>
                </a:solidFill>
                <a:latin typeface="Noto Sans KR"/>
                <a:ea typeface="Noto Sans KR"/>
                <a:cs typeface="Noto Sans KR"/>
              </a:rPr>
              <a:t>예시 — 과제 이름이 바뀌는 순간</a:t>
            </a:r>
          </a:p>
        </p:txBody>
      </p:sp>
      <p:sp>
        <p:nvSpPr>
          <p:cNvPr id="21" name="T v"/>
          <p:cNvSpPr txBox="1"/>
          <p:nvPr/>
        </p:nvSpPr>
        <p:spPr>
          <a:xfrm>
            <a:off x="1238250" y="9285089"/>
            <a:ext cx="7108217" cy="885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87"/>
              </a:lnSpc>
            </a:pPr>
            <a:r>
              <a:rPr sz="2325" b="1" spc="-46" strike="sngStrike">
                <a:solidFill>
                  <a:srgbClr val="9AA7B8"/>
                </a:solidFill>
                <a:latin typeface="Noto Sans KR"/>
                <a:ea typeface="Noto Sans KR"/>
                <a:cs typeface="Noto Sans KR"/>
              </a:rPr>
              <a:t>축구 데이터 분석</a:t>
            </a:r>
            <a:r>
              <a:rPr sz="2325" b="1" spc="-46">
                <a:solidFill>
                  <a:srgbClr val="0F1A2E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2325" b="1" spc="-46">
                <a:solidFill>
                  <a:srgbClr val="0F1A2E"/>
                </a:solidFill>
                <a:latin typeface="Noto Sans KR"/>
                <a:ea typeface="Noto Sans KR"/>
                <a:cs typeface="Noto Sans KR"/>
              </a:rPr>
              <a:t>센티미터급 위치 측위 측정</a:t>
            </a:r>
          </a:p>
          <a:p>
            <a:pPr algn="l">
              <a:lnSpc>
                <a:spcPts val="3487"/>
              </a:lnSpc>
            </a:pPr>
            <a:r>
              <a:rPr sz="2325" b="1" spc="-46">
                <a:solidFill>
                  <a:srgbClr val="0F1A2E"/>
                </a:solidFill>
                <a:latin typeface="Noto Sans KR"/>
                <a:ea typeface="Noto Sans KR"/>
                <a:cs typeface="Noto Sans KR"/>
              </a:rPr>
              <a:t>3번째 질문까지 내려가야 과제명이 됩니다.</a:t>
            </a:r>
          </a:p>
        </p:txBody>
      </p:sp>
      <p:sp>
        <p:nvSpPr>
          <p:cNvPr id="22" name="B"/>
          <p:cNvSpPr/>
          <p:nvPr/>
        </p:nvSpPr>
        <p:spPr>
          <a:xfrm>
            <a:off x="3694956" y="9549408"/>
            <a:ext cx="3153668" cy="171450"/>
          </a:xfrm>
          <a:prstGeom prst="rect">
            <a:avLst/>
          </a:prstGeom>
          <a:solidFill>
            <a:srgbClr val="9B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lightpill"/>
          <p:cNvSpPr/>
          <p:nvPr/>
        </p:nvSpPr>
        <p:spPr>
          <a:xfrm>
            <a:off x="838200" y="11772900"/>
            <a:ext cx="618083" cy="400050"/>
          </a:xfrm>
          <a:prstGeom prst="roundRect">
            <a:avLst>
              <a:gd name="adj" fmla="val 28571"/>
            </a:avLst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IMG logo_symbol.png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11849100"/>
            <a:ext cx="351383" cy="247650"/>
          </a:xfrm>
          <a:prstGeom prst="rect">
            <a:avLst/>
          </a:prstGeom>
        </p:spPr>
      </p:pic>
      <p:sp>
        <p:nvSpPr>
          <p:cNvPr id="25" name="T pg"/>
          <p:cNvSpPr txBox="1"/>
          <p:nvPr/>
        </p:nvSpPr>
        <p:spPr>
          <a:xfrm>
            <a:off x="6999714" y="11845260"/>
            <a:ext cx="2449086" cy="2514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979"/>
              </a:lnSpc>
            </a:pPr>
            <a:r>
              <a:rPr sz="1650" b="0">
                <a:solidFill>
                  <a:srgbClr val="0F1A2E"/>
                </a:solidFill>
                <a:latin typeface="Noto Sans KR"/>
                <a:ea typeface="Noto Sans KR"/>
                <a:cs typeface="Noto Sans KR"/>
              </a:rPr>
              <a:t>왜 → 무엇 → 어떻게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 eyebrow"/>
          <p:cNvSpPr txBox="1"/>
          <p:nvPr/>
        </p:nvSpPr>
        <p:spPr>
          <a:xfrm>
            <a:off x="838200" y="913448"/>
            <a:ext cx="1648085" cy="2971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950" b="1" spc="-20">
                <a:solidFill>
                  <a:srgbClr val="2DD4BF"/>
                </a:solidFill>
                <a:latin typeface="Noto Sans KR"/>
                <a:ea typeface="Noto Sans KR"/>
                <a:cs typeface="Noto Sans KR"/>
              </a:rPr>
              <a:t>03 · 사업 축</a:t>
            </a:r>
          </a:p>
        </p:txBody>
      </p:sp>
      <p:sp>
        <p:nvSpPr>
          <p:cNvPr id="3" name="T pg"/>
          <p:cNvSpPr txBox="1"/>
          <p:nvPr/>
        </p:nvSpPr>
        <p:spPr>
          <a:xfrm>
            <a:off x="8755320" y="917138"/>
            <a:ext cx="693480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160"/>
              </a:lnSpc>
            </a:pPr>
            <a:r>
              <a:rPr sz="1800" b="0" spc="-1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 / 5</a:t>
            </a:r>
          </a:p>
        </p:txBody>
      </p:sp>
      <p:sp>
        <p:nvSpPr>
          <p:cNvPr id="4" name="T H1"/>
          <p:cNvSpPr txBox="1"/>
          <p:nvPr/>
        </p:nvSpPr>
        <p:spPr>
          <a:xfrm>
            <a:off x="838200" y="1477399"/>
            <a:ext cx="8946989" cy="16794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612"/>
              </a:lnSpc>
            </a:pPr>
            <a:r>
              <a:rPr sz="5700" b="1" spc="-256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확장 시장은</a:t>
            </a:r>
          </a:p>
          <a:p>
            <a:pPr algn="l">
              <a:lnSpc>
                <a:spcPts val="6612"/>
              </a:lnSpc>
            </a:pPr>
            <a:r>
              <a:rPr sz="5700" b="1" spc="-256">
                <a:solidFill>
                  <a:srgbClr val="2DD4BF"/>
                </a:solidFill>
                <a:latin typeface="Noto Sans KR"/>
                <a:ea typeface="Noto Sans KR"/>
                <a:cs typeface="Noto Sans KR"/>
              </a:rPr>
              <a:t>‘지금 지점’</a:t>
            </a:r>
            <a:r>
              <a:rPr sz="5700" b="1" spc="-256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부터 찍습니다</a:t>
            </a:r>
          </a:p>
        </p:txBody>
      </p:sp>
      <p:sp>
        <p:nvSpPr>
          <p:cNvPr id="5" name="T yl"/>
          <p:cNvSpPr txBox="1"/>
          <p:nvPr/>
        </p:nvSpPr>
        <p:spPr>
          <a:xfrm>
            <a:off x="1149251" y="4020473"/>
            <a:ext cx="1373312" cy="2514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79"/>
              </a:lnSpc>
            </a:pPr>
            <a:r>
              <a:rPr sz="1650" b="0">
                <a:solidFill>
                  <a:srgbClr val="A2A7B1"/>
                </a:solidFill>
                <a:latin typeface="Noto Sans KR"/>
                <a:ea typeface="Noto Sans KR"/>
                <a:cs typeface="Noto Sans KR"/>
              </a:rPr>
              <a:t>시니어·재활</a:t>
            </a:r>
          </a:p>
        </p:txBody>
      </p:sp>
      <p:sp>
        <p:nvSpPr>
          <p:cNvPr id="6" name="cell"/>
          <p:cNvSpPr/>
          <p:nvPr/>
        </p:nvSpPr>
        <p:spPr>
          <a:xfrm>
            <a:off x="2381250" y="3690938"/>
            <a:ext cx="2279600" cy="914400"/>
          </a:xfrm>
          <a:prstGeom prst="roundRect">
            <a:avLst>
              <a:gd name="adj" fmla="val 14583"/>
            </a:avLst>
          </a:prstGeom>
          <a:solidFill>
            <a:srgbClr val="26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ell"/>
          <p:cNvSpPr/>
          <p:nvPr/>
        </p:nvSpPr>
        <p:spPr>
          <a:xfrm>
            <a:off x="4775150" y="3690938"/>
            <a:ext cx="2279600" cy="914400"/>
          </a:xfrm>
          <a:prstGeom prst="roundRect">
            <a:avLst>
              <a:gd name="adj" fmla="val 14583"/>
            </a:avLst>
          </a:prstGeom>
          <a:solidFill>
            <a:srgbClr val="26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ell"/>
          <p:cNvSpPr/>
          <p:nvPr/>
        </p:nvSpPr>
        <p:spPr>
          <a:xfrm>
            <a:off x="7169051" y="3690938"/>
            <a:ext cx="2279600" cy="914400"/>
          </a:xfrm>
          <a:prstGeom prst="roundRect">
            <a:avLst>
              <a:gd name="adj" fmla="val 14583"/>
            </a:avLst>
          </a:prstGeom>
          <a:solidFill>
            <a:srgbClr val="26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 yl"/>
          <p:cNvSpPr txBox="1"/>
          <p:nvPr/>
        </p:nvSpPr>
        <p:spPr>
          <a:xfrm>
            <a:off x="1341983" y="5049173"/>
            <a:ext cx="1132396" cy="2514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79"/>
              </a:lnSpc>
            </a:pPr>
            <a:r>
              <a:rPr sz="1650" b="0">
                <a:solidFill>
                  <a:srgbClr val="A2A7B1"/>
                </a:solidFill>
                <a:latin typeface="Noto Sans KR"/>
                <a:ea typeface="Noto Sans KR"/>
                <a:cs typeface="Noto Sans KR"/>
              </a:rPr>
              <a:t>복싱·줌바</a:t>
            </a:r>
          </a:p>
        </p:txBody>
      </p:sp>
      <p:sp>
        <p:nvSpPr>
          <p:cNvPr id="10" name="cell"/>
          <p:cNvSpPr/>
          <p:nvPr/>
        </p:nvSpPr>
        <p:spPr>
          <a:xfrm>
            <a:off x="2381250" y="4719638"/>
            <a:ext cx="2279600" cy="914400"/>
          </a:xfrm>
          <a:prstGeom prst="roundRect">
            <a:avLst>
              <a:gd name="adj" fmla="val 14583"/>
            </a:avLst>
          </a:prstGeom>
          <a:solidFill>
            <a:srgbClr val="26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cell"/>
          <p:cNvSpPr/>
          <p:nvPr/>
        </p:nvSpPr>
        <p:spPr>
          <a:xfrm>
            <a:off x="4775150" y="4719638"/>
            <a:ext cx="2279600" cy="914400"/>
          </a:xfrm>
          <a:prstGeom prst="roundRect">
            <a:avLst>
              <a:gd name="adj" fmla="val 14583"/>
            </a:avLst>
          </a:prstGeom>
          <a:solidFill>
            <a:srgbClr val="26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cell"/>
          <p:cNvSpPr/>
          <p:nvPr/>
        </p:nvSpPr>
        <p:spPr>
          <a:xfrm>
            <a:off x="7169051" y="4719638"/>
            <a:ext cx="2279600" cy="914400"/>
          </a:xfrm>
          <a:prstGeom prst="roundRect">
            <a:avLst>
              <a:gd name="adj" fmla="val 14583"/>
            </a:avLst>
          </a:prstGeom>
          <a:solidFill>
            <a:srgbClr val="26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 yl"/>
          <p:cNvSpPr txBox="1"/>
          <p:nvPr/>
        </p:nvSpPr>
        <p:spPr>
          <a:xfrm>
            <a:off x="1593205" y="6077873"/>
            <a:ext cx="818369" cy="2514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79"/>
              </a:lnSpc>
            </a:pPr>
            <a:r>
              <a:rPr sz="1650" b="0">
                <a:solidFill>
                  <a:srgbClr val="A2A7B1"/>
                </a:solidFill>
                <a:latin typeface="Noto Sans KR"/>
                <a:ea typeface="Noto Sans KR"/>
                <a:cs typeface="Noto Sans KR"/>
              </a:rPr>
              <a:t>태권도</a:t>
            </a:r>
          </a:p>
        </p:txBody>
      </p:sp>
      <p:sp>
        <p:nvSpPr>
          <p:cNvPr id="14" name="cell now"/>
          <p:cNvSpPr/>
          <p:nvPr/>
        </p:nvSpPr>
        <p:spPr>
          <a:xfrm>
            <a:off x="2381250" y="5748338"/>
            <a:ext cx="2279600" cy="914400"/>
          </a:xfrm>
          <a:prstGeom prst="roundRect">
            <a:avLst>
              <a:gd name="adj" fmla="val 14583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 cell now"/>
          <p:cNvSpPr txBox="1"/>
          <p:nvPr/>
        </p:nvSpPr>
        <p:spPr>
          <a:xfrm>
            <a:off x="2381250" y="5748338"/>
            <a:ext cx="2279600" cy="914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700"/>
              </a:lnSpc>
            </a:pPr>
            <a:r>
              <a:rPr sz="2250" b="1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지금</a:t>
            </a:r>
          </a:p>
        </p:txBody>
      </p:sp>
      <p:sp>
        <p:nvSpPr>
          <p:cNvPr id="16" name="cell nx"/>
          <p:cNvSpPr/>
          <p:nvPr/>
        </p:nvSpPr>
        <p:spPr>
          <a:xfrm>
            <a:off x="4775150" y="5748338"/>
            <a:ext cx="2279600" cy="914400"/>
          </a:xfrm>
          <a:prstGeom prst="roundRect">
            <a:avLst>
              <a:gd name="adj" fmla="val 14583"/>
            </a:avLst>
          </a:prstGeom>
          <a:solidFill>
            <a:srgbClr val="1B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 cell nx"/>
          <p:cNvSpPr txBox="1"/>
          <p:nvPr/>
        </p:nvSpPr>
        <p:spPr>
          <a:xfrm>
            <a:off x="4775150" y="5748338"/>
            <a:ext cx="2279600" cy="914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700"/>
              </a:lnSpc>
            </a:pPr>
            <a:r>
              <a:rPr sz="2250" b="1">
                <a:solidFill>
                  <a:srgbClr val="2DD4BF"/>
                </a:solidFill>
                <a:latin typeface="Noto Sans KR"/>
                <a:ea typeface="Noto Sans KR"/>
                <a:cs typeface="Noto Sans KR"/>
              </a:rPr>
              <a:t>①</a:t>
            </a:r>
          </a:p>
        </p:txBody>
      </p:sp>
      <p:sp>
        <p:nvSpPr>
          <p:cNvPr id="18" name="cell nx"/>
          <p:cNvSpPr/>
          <p:nvPr/>
        </p:nvSpPr>
        <p:spPr>
          <a:xfrm>
            <a:off x="7169051" y="5748338"/>
            <a:ext cx="2279600" cy="914400"/>
          </a:xfrm>
          <a:prstGeom prst="roundRect">
            <a:avLst>
              <a:gd name="adj" fmla="val 14583"/>
            </a:avLst>
          </a:prstGeom>
          <a:solidFill>
            <a:srgbClr val="1B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 cell nx"/>
          <p:cNvSpPr txBox="1"/>
          <p:nvPr/>
        </p:nvSpPr>
        <p:spPr>
          <a:xfrm>
            <a:off x="7169051" y="5748338"/>
            <a:ext cx="2279600" cy="914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700"/>
              </a:lnSpc>
            </a:pPr>
            <a:r>
              <a:rPr sz="2250" b="1">
                <a:solidFill>
                  <a:srgbClr val="2DD4BF"/>
                </a:solidFill>
                <a:latin typeface="Noto Sans KR"/>
                <a:ea typeface="Noto Sans KR"/>
                <a:cs typeface="Noto Sans KR"/>
              </a:rPr>
              <a:t>②</a:t>
            </a:r>
          </a:p>
        </p:txBody>
      </p:sp>
      <p:sp>
        <p:nvSpPr>
          <p:cNvPr id="20" name="T xl"/>
          <p:cNvSpPr txBox="1"/>
          <p:nvPr/>
        </p:nvSpPr>
        <p:spPr>
          <a:xfrm>
            <a:off x="3106043" y="6775132"/>
            <a:ext cx="1132582" cy="2514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79"/>
              </a:lnSpc>
            </a:pPr>
            <a:r>
              <a:rPr sz="1650" b="0">
                <a:solidFill>
                  <a:srgbClr val="A2A7B1"/>
                </a:solidFill>
                <a:latin typeface="Noto Sans KR"/>
                <a:ea typeface="Noto Sans KR"/>
                <a:cs typeface="Noto Sans KR"/>
              </a:rPr>
              <a:t>신규 창업</a:t>
            </a:r>
          </a:p>
        </p:txBody>
      </p:sp>
      <p:sp>
        <p:nvSpPr>
          <p:cNvPr id="21" name="T xl"/>
          <p:cNvSpPr txBox="1"/>
          <p:nvPr/>
        </p:nvSpPr>
        <p:spPr>
          <a:xfrm>
            <a:off x="5499943" y="6775132"/>
            <a:ext cx="1132582" cy="2514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79"/>
              </a:lnSpc>
            </a:pPr>
            <a:r>
              <a:rPr sz="1650" b="0">
                <a:solidFill>
                  <a:srgbClr val="A2A7B1"/>
                </a:solidFill>
                <a:latin typeface="Noto Sans KR"/>
                <a:ea typeface="Noto Sans KR"/>
                <a:cs typeface="Noto Sans KR"/>
              </a:rPr>
              <a:t>공간 전환</a:t>
            </a:r>
          </a:p>
        </p:txBody>
      </p:sp>
      <p:sp>
        <p:nvSpPr>
          <p:cNvPr id="22" name="T xl"/>
          <p:cNvSpPr txBox="1"/>
          <p:nvPr/>
        </p:nvSpPr>
        <p:spPr>
          <a:xfrm>
            <a:off x="8019604" y="6775132"/>
            <a:ext cx="818369" cy="2514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79"/>
              </a:lnSpc>
            </a:pPr>
            <a:r>
              <a:rPr sz="1650" b="0">
                <a:solidFill>
                  <a:srgbClr val="A2A7B1"/>
                </a:solidFill>
                <a:latin typeface="Noto Sans KR"/>
                <a:ea typeface="Noto Sans KR"/>
                <a:cs typeface="Noto Sans KR"/>
              </a:rPr>
              <a:t>샵인샵</a:t>
            </a:r>
          </a:p>
        </p:txBody>
      </p:sp>
      <p:sp>
        <p:nvSpPr>
          <p:cNvPr id="23" name="T mxcap"/>
          <p:cNvSpPr txBox="1"/>
          <p:nvPr/>
        </p:nvSpPr>
        <p:spPr>
          <a:xfrm>
            <a:off x="5190515" y="7156996"/>
            <a:ext cx="4258285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800"/>
              </a:lnSpc>
            </a:pPr>
            <a:r>
              <a:rPr sz="1500" b="0">
                <a:solidFill>
                  <a:srgbClr val="7F8794"/>
                </a:solidFill>
                <a:latin typeface="Noto Sans KR"/>
                <a:ea typeface="Noto Sans KR"/>
                <a:cs typeface="Noto Sans KR"/>
              </a:rPr>
              <a:t>예시 · x축 도입 공간 / y축 종목·프로그램</a:t>
            </a:r>
          </a:p>
        </p:txBody>
      </p:sp>
      <p:sp>
        <p:nvSpPr>
          <p:cNvPr id="24" name="n"/>
          <p:cNvSpPr/>
          <p:nvPr/>
        </p:nvSpPr>
        <p:spPr>
          <a:xfrm>
            <a:off x="838200" y="7809458"/>
            <a:ext cx="495300" cy="4953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 n"/>
          <p:cNvSpPr txBox="1"/>
          <p:nvPr/>
        </p:nvSpPr>
        <p:spPr>
          <a:xfrm>
            <a:off x="838200" y="7809458"/>
            <a:ext cx="495300" cy="495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26" name="T t"/>
          <p:cNvSpPr txBox="1"/>
          <p:nvPr/>
        </p:nvSpPr>
        <p:spPr>
          <a:xfrm>
            <a:off x="1562100" y="7800886"/>
            <a:ext cx="5183870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60"/>
              </a:lnSpc>
            </a:pPr>
            <a:r>
              <a:rPr sz="2550" b="1" spc="-76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지금 있는 지점을 하나로 찍는다</a:t>
            </a:r>
          </a:p>
        </p:txBody>
      </p:sp>
      <p:sp>
        <p:nvSpPr>
          <p:cNvPr id="27" name="T d"/>
          <p:cNvSpPr txBox="1"/>
          <p:nvPr/>
        </p:nvSpPr>
        <p:spPr>
          <a:xfrm>
            <a:off x="1562100" y="8255198"/>
            <a:ext cx="4017057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1875" b="0">
                <a:solidFill>
                  <a:srgbClr val="B0B5BD"/>
                </a:solidFill>
                <a:latin typeface="Noto Sans KR"/>
                <a:ea typeface="Noto Sans KR"/>
                <a:cs typeface="Noto Sans KR"/>
              </a:rPr>
              <a:t>“우리는 A시장의 B단계에 있다”</a:t>
            </a:r>
          </a:p>
        </p:txBody>
      </p:sp>
      <p:sp>
        <p:nvSpPr>
          <p:cNvPr id="28" name="n"/>
          <p:cNvSpPr/>
          <p:nvPr/>
        </p:nvSpPr>
        <p:spPr>
          <a:xfrm>
            <a:off x="838200" y="8788598"/>
            <a:ext cx="495300" cy="4953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 n"/>
          <p:cNvSpPr txBox="1"/>
          <p:nvPr/>
        </p:nvSpPr>
        <p:spPr>
          <a:xfrm>
            <a:off x="838200" y="8788598"/>
            <a:ext cx="495300" cy="495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30" name="T t"/>
          <p:cNvSpPr txBox="1"/>
          <p:nvPr/>
        </p:nvSpPr>
        <p:spPr>
          <a:xfrm>
            <a:off x="1562100" y="8780026"/>
            <a:ext cx="5544034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60"/>
              </a:lnSpc>
            </a:pPr>
            <a:r>
              <a:rPr sz="2550" b="1" spc="-76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지점으로 가는 이유를 붙인다</a:t>
            </a:r>
          </a:p>
        </p:txBody>
      </p:sp>
      <p:sp>
        <p:nvSpPr>
          <p:cNvPr id="31" name="T d"/>
          <p:cNvSpPr txBox="1"/>
          <p:nvPr/>
        </p:nvSpPr>
        <p:spPr>
          <a:xfrm>
            <a:off x="1562100" y="9234339"/>
            <a:ext cx="3988966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1875" b="0">
                <a:solidFill>
                  <a:srgbClr val="B0B5BD"/>
                </a:solidFill>
                <a:latin typeface="Noto Sans KR"/>
                <a:ea typeface="Noto Sans KR"/>
                <a:cs typeface="Noto Sans KR"/>
              </a:rPr>
              <a:t>핵심은 </a:t>
            </a:r>
            <a:r>
              <a:rPr sz="1875" b="1">
                <a:solidFill>
                  <a:srgbClr val="2DD4BF"/>
                </a:solidFill>
                <a:latin typeface="Noto Sans KR"/>
                <a:ea typeface="Noto Sans KR"/>
                <a:cs typeface="Noto Sans KR"/>
              </a:rPr>
              <a:t>같은 기술의 고도화 적용</a:t>
            </a:r>
          </a:p>
        </p:txBody>
      </p:sp>
      <p:sp>
        <p:nvSpPr>
          <p:cNvPr id="32" name="n"/>
          <p:cNvSpPr/>
          <p:nvPr/>
        </p:nvSpPr>
        <p:spPr>
          <a:xfrm>
            <a:off x="838200" y="9767739"/>
            <a:ext cx="495300" cy="4953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 n"/>
          <p:cNvSpPr txBox="1"/>
          <p:nvPr/>
        </p:nvSpPr>
        <p:spPr>
          <a:xfrm>
            <a:off x="838200" y="9767739"/>
            <a:ext cx="495300" cy="495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34" name="T t"/>
          <p:cNvSpPr txBox="1"/>
          <p:nvPr/>
        </p:nvSpPr>
        <p:spPr>
          <a:xfrm>
            <a:off x="1562100" y="9759166"/>
            <a:ext cx="4722316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60"/>
              </a:lnSpc>
            </a:pPr>
            <a:r>
              <a:rPr sz="2550" b="1" spc="-76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칸마다 시점과 숫자를 붙인다</a:t>
            </a:r>
          </a:p>
        </p:txBody>
      </p:sp>
      <p:sp>
        <p:nvSpPr>
          <p:cNvPr id="35" name="T d"/>
          <p:cNvSpPr txBox="1"/>
          <p:nvPr/>
        </p:nvSpPr>
        <p:spPr>
          <a:xfrm>
            <a:off x="1562100" y="10213479"/>
            <a:ext cx="5249354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1875" b="0">
                <a:solidFill>
                  <a:srgbClr val="B0B5BD"/>
                </a:solidFill>
                <a:latin typeface="Noto Sans KR"/>
                <a:ea typeface="Noto Sans KR"/>
                <a:cs typeface="Noto Sans KR"/>
              </a:rPr>
              <a:t>그대로 2년짜리 스케일업 스토리가 됩니다</a:t>
            </a:r>
          </a:p>
        </p:txBody>
      </p:sp>
      <p:pic>
        <p:nvPicPr>
          <p:cNvPr id="36" name="IMG logo_symbol.png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849100"/>
            <a:ext cx="459432" cy="323850"/>
          </a:xfrm>
          <a:prstGeom prst="rect">
            <a:avLst/>
          </a:prstGeom>
        </p:spPr>
      </p:pic>
      <p:pic>
        <p:nvPicPr>
          <p:cNvPr id="37" name="IMG logo_word.png" descr="logo_w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982" y="11891962"/>
            <a:ext cx="1440061" cy="238125"/>
          </a:xfrm>
          <a:prstGeom prst="rect">
            <a:avLst/>
          </a:prstGeom>
        </p:spPr>
      </p:pic>
      <p:sp>
        <p:nvSpPr>
          <p:cNvPr id="38" name="T next"/>
          <p:cNvSpPr txBox="1"/>
          <p:nvPr/>
        </p:nvSpPr>
        <p:spPr>
          <a:xfrm>
            <a:off x="7796257" y="11865233"/>
            <a:ext cx="1652543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160"/>
              </a:lnSpc>
            </a:pPr>
            <a:r>
              <a:rPr sz="1800" b="1">
                <a:solidFill>
                  <a:srgbClr val="B9BDC5"/>
                </a:solidFill>
                <a:latin typeface="Noto Sans KR"/>
                <a:ea typeface="Noto Sans KR"/>
                <a:cs typeface="Noto Sans KR"/>
              </a:rPr>
              <a:t>마지막 장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 eyebrow"/>
          <p:cNvSpPr txBox="1"/>
          <p:nvPr/>
        </p:nvSpPr>
        <p:spPr>
          <a:xfrm>
            <a:off x="838200" y="913448"/>
            <a:ext cx="1564556" cy="2971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950" b="1" spc="-20">
                <a:solidFill>
                  <a:srgbClr val="0F9E8C"/>
                </a:solidFill>
                <a:latin typeface="Noto Sans KR"/>
                <a:ea typeface="Noto Sans KR"/>
                <a:cs typeface="Noto Sans KR"/>
              </a:rPr>
              <a:t>04 · 시작점</a:t>
            </a:r>
          </a:p>
        </p:txBody>
      </p:sp>
      <p:sp>
        <p:nvSpPr>
          <p:cNvPr id="3" name="T pg"/>
          <p:cNvSpPr txBox="1"/>
          <p:nvPr/>
        </p:nvSpPr>
        <p:spPr>
          <a:xfrm>
            <a:off x="8755320" y="917138"/>
            <a:ext cx="693480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160"/>
              </a:lnSpc>
            </a:pPr>
            <a:r>
              <a:rPr sz="1800" b="0" spc="-18">
                <a:solidFill>
                  <a:srgbClr val="0F1A2E"/>
                </a:solidFill>
                <a:latin typeface="Noto Sans KR"/>
                <a:ea typeface="Noto Sans KR"/>
                <a:cs typeface="Noto Sans KR"/>
              </a:rPr>
              <a:t>5 / 5</a:t>
            </a:r>
          </a:p>
        </p:txBody>
      </p:sp>
      <p:sp>
        <p:nvSpPr>
          <p:cNvPr id="4" name="T H1"/>
          <p:cNvSpPr txBox="1"/>
          <p:nvPr/>
        </p:nvSpPr>
        <p:spPr>
          <a:xfrm>
            <a:off x="838200" y="1477208"/>
            <a:ext cx="9448800" cy="154674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90"/>
              </a:lnSpc>
            </a:pPr>
            <a:r>
              <a:rPr sz="5250" b="1" spc="-236">
                <a:solidFill>
                  <a:srgbClr val="0F1A2E"/>
                </a:solidFill>
                <a:latin typeface="Noto Sans KR"/>
                <a:ea typeface="Noto Sans KR"/>
                <a:cs typeface="Noto Sans KR"/>
              </a:rPr>
              <a:t>순서는 알겠는데,</a:t>
            </a:r>
          </a:p>
          <a:p>
            <a:pPr algn="l">
              <a:lnSpc>
                <a:spcPts val="6090"/>
              </a:lnSpc>
            </a:pPr>
            <a:r>
              <a:rPr sz="5250" b="1" spc="-236">
                <a:solidFill>
                  <a:srgbClr val="0F1A2E"/>
                </a:solidFill>
                <a:latin typeface="Noto Sans KR"/>
                <a:ea typeface="Noto Sans KR"/>
                <a:cs typeface="Noto Sans KR"/>
              </a:rPr>
              <a:t>우리 회사는 지금 어디쯤일까요?</a:t>
            </a:r>
          </a:p>
        </p:txBody>
      </p:sp>
      <p:sp>
        <p:nvSpPr>
          <p:cNvPr id="5" name="shot"/>
          <p:cNvSpPr/>
          <p:nvPr/>
        </p:nvSpPr>
        <p:spPr>
          <a:xfrm>
            <a:off x="838200" y="3481983"/>
            <a:ext cx="8610600" cy="5134421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 w="9525">
            <a:solidFill>
              <a:srgbClr val="E4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"/>
          <p:cNvSpPr/>
          <p:nvPr/>
        </p:nvSpPr>
        <p:spPr>
          <a:xfrm>
            <a:off x="1057275" y="3701058"/>
            <a:ext cx="114300" cy="114300"/>
          </a:xfrm>
          <a:prstGeom prst="ellipse">
            <a:avLst/>
          </a:prstGeom>
          <a:solidFill>
            <a:srgbClr val="E4D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"/>
          <p:cNvSpPr/>
          <p:nvPr/>
        </p:nvSpPr>
        <p:spPr>
          <a:xfrm>
            <a:off x="1247775" y="3701058"/>
            <a:ext cx="114300" cy="114300"/>
          </a:xfrm>
          <a:prstGeom prst="ellipse">
            <a:avLst/>
          </a:prstGeom>
          <a:solidFill>
            <a:srgbClr val="E4D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I"/>
          <p:cNvSpPr/>
          <p:nvPr/>
        </p:nvSpPr>
        <p:spPr>
          <a:xfrm>
            <a:off x="1438275" y="3701058"/>
            <a:ext cx="114300" cy="114300"/>
          </a:xfrm>
          <a:prstGeom prst="ellipse">
            <a:avLst/>
          </a:prstGeom>
          <a:solidFill>
            <a:srgbClr val="E4D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IMG map_crop.png" descr="ma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3967758"/>
            <a:ext cx="8172450" cy="4429571"/>
          </a:xfrm>
          <a:prstGeom prst="rect">
            <a:avLst/>
          </a:prstGeom>
        </p:spPr>
      </p:pic>
      <p:sp>
        <p:nvSpPr>
          <p:cNvPr id="10" name="T cap"/>
          <p:cNvSpPr txBox="1"/>
          <p:nvPr/>
        </p:nvSpPr>
        <p:spPr>
          <a:xfrm>
            <a:off x="838200" y="8744039"/>
            <a:ext cx="4588929" cy="2400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75" b="0">
                <a:solidFill>
                  <a:srgbClr val="8C8577"/>
                </a:solidFill>
                <a:latin typeface="Noto Sans KR"/>
                <a:ea typeface="Noto Sans KR"/>
                <a:cs typeface="Noto Sans KR"/>
              </a:rPr>
              <a:t>코파운더 결정지도 — 실제 화면 (자사 사례)</a:t>
            </a:r>
          </a:p>
        </p:txBody>
      </p:sp>
      <p:sp>
        <p:nvSpPr>
          <p:cNvPr id="11" name="T body5"/>
          <p:cNvSpPr txBox="1"/>
          <p:nvPr/>
        </p:nvSpPr>
        <p:spPr>
          <a:xfrm>
            <a:off x="838200" y="9308991"/>
            <a:ext cx="8050299" cy="8561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71"/>
              </a:lnSpc>
            </a:pPr>
            <a:r>
              <a:rPr sz="2175" b="0" spc="-43">
                <a:solidFill>
                  <a:srgbClr val="2B3446"/>
                </a:solidFill>
                <a:latin typeface="Noto Sans KR"/>
                <a:ea typeface="Noto Sans KR"/>
                <a:cs typeface="Noto Sans KR"/>
              </a:rPr>
              <a:t>이익을 이루는 숫자를 결정 단위로 쪼개고,</a:t>
            </a:r>
          </a:p>
          <a:p>
            <a:pPr algn="l">
              <a:lnSpc>
                <a:spcPts val="3371"/>
              </a:lnSpc>
            </a:pPr>
            <a:r>
              <a:rPr sz="2175" b="0" spc="-43">
                <a:solidFill>
                  <a:srgbClr val="2B3446"/>
                </a:solidFill>
                <a:latin typeface="Noto Sans KR"/>
                <a:ea typeface="Noto Sans KR"/>
                <a:cs typeface="Noto Sans KR"/>
              </a:rPr>
              <a:t>지금 재고 있는 곳과 비어 있는 곳을 지도로 보여드립니다.</a:t>
            </a:r>
          </a:p>
        </p:txBody>
      </p:sp>
      <p:sp>
        <p:nvSpPr>
          <p:cNvPr id="12" name="cta"/>
          <p:cNvSpPr/>
          <p:nvPr/>
        </p:nvSpPr>
        <p:spPr>
          <a:xfrm>
            <a:off x="838200" y="10550575"/>
            <a:ext cx="8610600" cy="1181100"/>
          </a:xfrm>
          <a:prstGeom prst="roundRect">
            <a:avLst>
              <a:gd name="adj" fmla="val 17741"/>
            </a:avLst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 t"/>
          <p:cNvSpPr txBox="1"/>
          <p:nvPr/>
        </p:nvSpPr>
        <p:spPr>
          <a:xfrm>
            <a:off x="1219200" y="10929729"/>
            <a:ext cx="5615099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40"/>
              </a:lnSpc>
            </a:pPr>
            <a:r>
              <a:rPr sz="2700" b="1" spc="-8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우리 회사 AX 수준 진단받아보기</a:t>
            </a:r>
          </a:p>
        </p:txBody>
      </p:sp>
      <p:sp>
        <p:nvSpPr>
          <p:cNvPr id="14" name="go"/>
          <p:cNvSpPr/>
          <p:nvPr/>
        </p:nvSpPr>
        <p:spPr>
          <a:xfrm>
            <a:off x="8458200" y="10836325"/>
            <a:ext cx="609600" cy="6096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 go"/>
          <p:cNvSpPr txBox="1"/>
          <p:nvPr/>
        </p:nvSpPr>
        <p:spPr>
          <a:xfrm>
            <a:off x="8458200" y="10836325"/>
            <a:ext cx="60960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879"/>
              </a:lnSpc>
            </a:pPr>
            <a:r>
              <a:rPr sz="2400" b="1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6" name="T fine"/>
          <p:cNvSpPr txBox="1"/>
          <p:nvPr/>
        </p:nvSpPr>
        <p:spPr>
          <a:xfrm>
            <a:off x="838200" y="11894552"/>
            <a:ext cx="7706506" cy="2171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5" b="0">
                <a:solidFill>
                  <a:srgbClr val="9B9486"/>
                </a:solidFill>
                <a:latin typeface="Noto Sans KR"/>
                <a:ea typeface="Noto Sans KR"/>
                <a:cs typeface="Noto Sans KR"/>
              </a:rPr>
              <a:t>프로필 링크 또는 DM으로 문의 · TIPS 선정은 운영사·전담기관 심사로 결정됩니다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TIPS 캐러셀 v1 (편집본)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