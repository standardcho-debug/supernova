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"/>
          <p:cNvSpPr/>
          <p:nvPr/>
        </p:nvSpPr>
        <p:spPr>
          <a:xfrm>
            <a:off x="7429500" y="7239000"/>
            <a:ext cx="4000500" cy="400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2"/>
          <p:cNvSpPr/>
          <p:nvPr/>
        </p:nvSpPr>
        <p:spPr>
          <a:xfrm>
            <a:off x="9144000" y="7239000"/>
            <a:ext cx="4000500" cy="40005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5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1 / 7</a:t>
            </a:r>
          </a:p>
        </p:txBody>
      </p:sp>
      <p:sp>
        <p:nvSpPr>
          <p:cNvPr id="6" name="T H1"/>
          <p:cNvSpPr txBox="1"/>
          <p:nvPr/>
        </p:nvSpPr>
        <p:spPr>
          <a:xfrm>
            <a:off x="838200" y="3420046"/>
            <a:ext cx="7281602" cy="3911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266"/>
              </a:lnSpc>
            </a:pPr>
            <a:r>
              <a:rPr sz="8850" b="1" spc="-35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TIPS 준비,</a:t>
            </a:r>
          </a:p>
          <a:p>
            <a:pPr algn="l">
              <a:lnSpc>
                <a:spcPts val="10266"/>
              </a:lnSpc>
            </a:pPr>
            <a:r>
              <a:rPr sz="8850" b="1" spc="-354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어디서부터</a:t>
            </a:r>
          </a:p>
          <a:p>
            <a:pPr algn="l">
              <a:lnSpc>
                <a:spcPts val="10266"/>
              </a:lnSpc>
            </a:pPr>
            <a:r>
              <a:rPr sz="8850" b="1" spc="-354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해야 할까요?</a:t>
            </a:r>
          </a:p>
        </p:txBody>
      </p:sp>
      <p:sp>
        <p:nvSpPr>
          <p:cNvPr id="7" name="T lead"/>
          <p:cNvSpPr txBox="1"/>
          <p:nvPr/>
        </p:nvSpPr>
        <p:spPr>
          <a:xfrm>
            <a:off x="838200" y="7524750"/>
            <a:ext cx="5896012" cy="1200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725"/>
              </a:lnSpc>
            </a:pPr>
            <a:r>
              <a:rPr sz="3150" b="0">
                <a:solidFill>
                  <a:srgbClr val="C9D3E3"/>
                </a:solidFill>
                <a:latin typeface="Noto Sans KR"/>
                <a:ea typeface="Noto Sans KR"/>
                <a:cs typeface="Noto Sans KR"/>
              </a:rPr>
              <a:t>답해야 할 질문 2개와</a:t>
            </a:r>
          </a:p>
          <a:p>
            <a:pPr algn="l">
              <a:lnSpc>
                <a:spcPts val="4725"/>
              </a:lnSpc>
            </a:pPr>
            <a:r>
              <a:rPr sz="3150" b="0">
                <a:solidFill>
                  <a:srgbClr val="C9D3E3"/>
                </a:solidFill>
                <a:latin typeface="Noto Sans KR"/>
                <a:ea typeface="Noto Sans KR"/>
                <a:cs typeface="Noto Sans KR"/>
              </a:rPr>
              <a:t>과제명 공식까지 정리했어요</a:t>
            </a:r>
          </a:p>
        </p:txBody>
      </p:sp>
      <p:sp>
        <p:nvSpPr>
          <p:cNvPr id="8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  <p:sp>
        <p:nvSpPr>
          <p:cNvPr id="10" name="T fnote"/>
          <p:cNvSpPr txBox="1"/>
          <p:nvPr/>
        </p:nvSpPr>
        <p:spPr>
          <a:xfrm>
            <a:off x="4910554" y="11836837"/>
            <a:ext cx="4538246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340"/>
              </a:lnSpc>
            </a:pPr>
            <a:r>
              <a:rPr sz="1950" b="1">
                <a:solidFill>
                  <a:srgbClr val="8FA0BA"/>
                </a:solidFill>
                <a:latin typeface="Noto Sans KR"/>
                <a:ea typeface="Noto Sans KR"/>
                <a:cs typeface="Noto Sans KR"/>
              </a:rPr>
              <a:t>저장해두고 하나씩 채워보세요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25321"/>
            <a:ext cx="8192988" cy="176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TIPS 과제를 설명할 때</a:t>
            </a:r>
          </a:p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답해야 할 질문 2개</a:t>
            </a:r>
          </a:p>
        </p:txBody>
      </p:sp>
      <p:sp>
        <p:nvSpPr>
          <p:cNvPr id="5" name="box q"/>
          <p:cNvSpPr/>
          <p:nvPr/>
        </p:nvSpPr>
        <p:spPr>
          <a:xfrm>
            <a:off x="838200" y="4000500"/>
            <a:ext cx="8610600" cy="228585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 k"/>
          <p:cNvSpPr txBox="1"/>
          <p:nvPr/>
        </p:nvSpPr>
        <p:spPr>
          <a:xfrm>
            <a:off x="1314450" y="4392930"/>
            <a:ext cx="1857561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Q1 · 기술 축</a:t>
            </a:r>
          </a:p>
        </p:txBody>
      </p:sp>
      <p:sp>
        <p:nvSpPr>
          <p:cNvPr id="7" name="T t"/>
          <p:cNvSpPr txBox="1"/>
          <p:nvPr/>
        </p:nvSpPr>
        <p:spPr>
          <a:xfrm>
            <a:off x="1314450" y="4807208"/>
            <a:ext cx="6229573" cy="617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59"/>
              </a:lnSpc>
            </a:pPr>
            <a:r>
              <a:rPr sz="4050" b="1" spc="-122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이 기술, 왜 필요한가요?</a:t>
            </a:r>
          </a:p>
        </p:txBody>
      </p:sp>
      <p:sp>
        <p:nvSpPr>
          <p:cNvPr id="8" name="T d"/>
          <p:cNvSpPr txBox="1"/>
          <p:nvPr/>
        </p:nvSpPr>
        <p:spPr>
          <a:xfrm>
            <a:off x="1314450" y="5558701"/>
            <a:ext cx="4053892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→ 3장: 과제명으로 답합니다</a:t>
            </a:r>
          </a:p>
        </p:txBody>
      </p:sp>
      <p:sp>
        <p:nvSpPr>
          <p:cNvPr id="9" name="box q"/>
          <p:cNvSpPr/>
          <p:nvPr/>
        </p:nvSpPr>
        <p:spPr>
          <a:xfrm>
            <a:off x="838200" y="6858000"/>
            <a:ext cx="8610600" cy="228585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 k"/>
          <p:cNvSpPr txBox="1"/>
          <p:nvPr/>
        </p:nvSpPr>
        <p:spPr>
          <a:xfrm>
            <a:off x="1314450" y="7250430"/>
            <a:ext cx="1857561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Q2 · 사업 축</a:t>
            </a:r>
          </a:p>
        </p:txBody>
      </p:sp>
      <p:sp>
        <p:nvSpPr>
          <p:cNvPr id="11" name="T t"/>
          <p:cNvSpPr txBox="1"/>
          <p:nvPr/>
        </p:nvSpPr>
        <p:spPr>
          <a:xfrm>
            <a:off x="1314450" y="7664708"/>
            <a:ext cx="5717791" cy="6172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59"/>
              </a:lnSpc>
            </a:pPr>
            <a:r>
              <a:rPr sz="4050" b="1" spc="-122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어디까지 확장되나요?</a:t>
            </a:r>
          </a:p>
        </p:txBody>
      </p:sp>
      <p:sp>
        <p:nvSpPr>
          <p:cNvPr id="12" name="T d"/>
          <p:cNvSpPr txBox="1"/>
          <p:nvPr/>
        </p:nvSpPr>
        <p:spPr>
          <a:xfrm>
            <a:off x="1314450" y="8416201"/>
            <a:ext cx="4147282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→ 4장: 확장 지도로 답합니다</a:t>
            </a:r>
          </a:p>
        </p:txBody>
      </p:sp>
      <p:sp>
        <p:nvSpPr>
          <p:cNvPr id="13" name="box"/>
          <p:cNvSpPr/>
          <p:nvPr/>
        </p:nvSpPr>
        <p:spPr>
          <a:xfrm>
            <a:off x="838200" y="9810750"/>
            <a:ext cx="8610600" cy="1333500"/>
          </a:xfrm>
          <a:prstGeom prst="roundRect">
            <a:avLst>
              <a:gd name="adj" fmla="val 2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 box"/>
          <p:cNvSpPr txBox="1"/>
          <p:nvPr/>
        </p:nvSpPr>
        <p:spPr>
          <a:xfrm>
            <a:off x="2046387" y="10191750"/>
            <a:ext cx="7838033" cy="571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00"/>
              </a:lnSpc>
            </a:pPr>
            <a:r>
              <a:rPr sz="3750" b="1" spc="-112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두 답이 만나는 자리 = R&amp;D 과제</a:t>
            </a:r>
          </a:p>
        </p:txBody>
      </p:sp>
      <p:sp>
        <p:nvSpPr>
          <p:cNvPr id="15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25321"/>
            <a:ext cx="9448800" cy="176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‘개인화’라고만 쓰면</a:t>
            </a:r>
          </a:p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누구나 하는 기술이 됩니다</a:t>
            </a:r>
          </a:p>
        </p:txBody>
      </p:sp>
      <p:sp>
        <p:nvSpPr>
          <p:cNvPr id="5" name="step"/>
          <p:cNvSpPr/>
          <p:nvPr/>
        </p:nvSpPr>
        <p:spPr>
          <a:xfrm>
            <a:off x="838200" y="4095750"/>
            <a:ext cx="86106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 a"/>
          <p:cNvSpPr txBox="1"/>
          <p:nvPr/>
        </p:nvSpPr>
        <p:spPr>
          <a:xfrm>
            <a:off x="1200150" y="4334828"/>
            <a:ext cx="467692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왜</a:t>
            </a:r>
          </a:p>
        </p:txBody>
      </p:sp>
      <p:sp>
        <p:nvSpPr>
          <p:cNvPr id="7" name="T b"/>
          <p:cNvSpPr txBox="1"/>
          <p:nvPr/>
        </p:nvSpPr>
        <p:spPr>
          <a:xfrm>
            <a:off x="2667000" y="4334828"/>
            <a:ext cx="121257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개인화</a:t>
            </a:r>
          </a:p>
        </p:txBody>
      </p:sp>
      <p:sp>
        <p:nvSpPr>
          <p:cNvPr id="8" name="step"/>
          <p:cNvSpPr/>
          <p:nvPr/>
        </p:nvSpPr>
        <p:spPr>
          <a:xfrm>
            <a:off x="838200" y="5124450"/>
            <a:ext cx="86106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 a"/>
          <p:cNvSpPr txBox="1"/>
          <p:nvPr/>
        </p:nvSpPr>
        <p:spPr>
          <a:xfrm>
            <a:off x="1200150" y="5363528"/>
            <a:ext cx="840135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무엇</a:t>
            </a:r>
          </a:p>
        </p:txBody>
      </p:sp>
      <p:sp>
        <p:nvSpPr>
          <p:cNvPr id="10" name="T b"/>
          <p:cNvSpPr txBox="1"/>
          <p:nvPr/>
        </p:nvSpPr>
        <p:spPr>
          <a:xfrm>
            <a:off x="2667000" y="5363528"/>
            <a:ext cx="3188084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무엇을 개인화하나</a:t>
            </a:r>
          </a:p>
        </p:txBody>
      </p:sp>
      <p:sp>
        <p:nvSpPr>
          <p:cNvPr id="11" name="step on"/>
          <p:cNvSpPr/>
          <p:nvPr/>
        </p:nvSpPr>
        <p:spPr>
          <a:xfrm>
            <a:off x="838200" y="6153150"/>
            <a:ext cx="8610600" cy="876300"/>
          </a:xfrm>
          <a:prstGeom prst="roundRect">
            <a:avLst>
              <a:gd name="adj" fmla="val 21739"/>
            </a:avLst>
          </a:prstGeom>
          <a:solidFill>
            <a:srgbClr val="16243D"/>
          </a:solidFill>
          <a:ln w="19050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 a"/>
          <p:cNvSpPr txBox="1"/>
          <p:nvPr/>
        </p:nvSpPr>
        <p:spPr>
          <a:xfrm>
            <a:off x="1200150" y="6392228"/>
            <a:ext cx="1212577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어떻게</a:t>
            </a:r>
          </a:p>
        </p:txBody>
      </p:sp>
      <p:sp>
        <p:nvSpPr>
          <p:cNvPr id="13" name="T b"/>
          <p:cNvSpPr txBox="1"/>
          <p:nvPr/>
        </p:nvSpPr>
        <p:spPr>
          <a:xfrm>
            <a:off x="2667000" y="6392228"/>
            <a:ext cx="5050296" cy="388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우리만의 측정 지표 ← 과제명</a:t>
            </a:r>
          </a:p>
        </p:txBody>
      </p:sp>
      <p:sp>
        <p:nvSpPr>
          <p:cNvPr id="14" name="box ba"/>
          <p:cNvSpPr/>
          <p:nvPr/>
        </p:nvSpPr>
        <p:spPr>
          <a:xfrm>
            <a:off x="838200" y="7620000"/>
            <a:ext cx="8610600" cy="1519982"/>
          </a:xfrm>
          <a:prstGeom prst="roundRect">
            <a:avLst>
              <a:gd name="adj" fmla="val 17546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k"/>
          <p:cNvSpPr txBox="1"/>
          <p:nvPr/>
        </p:nvSpPr>
        <p:spPr>
          <a:xfrm>
            <a:off x="1257300" y="7904798"/>
            <a:ext cx="1460748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156">
                <a:solidFill>
                  <a:srgbClr val="8A8F99"/>
                </a:solidFill>
                <a:latin typeface="Noto Sans KR"/>
                <a:ea typeface="Noto Sans KR"/>
                <a:cs typeface="Noto Sans KR"/>
              </a:rPr>
              <a:t>BEFORE</a:t>
            </a:r>
          </a:p>
        </p:txBody>
      </p:sp>
      <p:sp>
        <p:nvSpPr>
          <p:cNvPr id="16" name="T t"/>
          <p:cNvSpPr txBox="1"/>
          <p:nvPr/>
        </p:nvSpPr>
        <p:spPr>
          <a:xfrm>
            <a:off x="1257300" y="8253293"/>
            <a:ext cx="426206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3900" b="1" spc="-117" strike="sngStrike">
                <a:solidFill>
                  <a:srgbClr val="8A8F99"/>
                </a:solidFill>
                <a:latin typeface="Noto Sans KR"/>
                <a:ea typeface="Noto Sans KR"/>
                <a:cs typeface="Noto Sans KR"/>
              </a:rPr>
              <a:t>축구 데이터 분석</a:t>
            </a:r>
          </a:p>
        </p:txBody>
      </p:sp>
      <p:sp>
        <p:nvSpPr>
          <p:cNvPr id="17" name="T arr"/>
          <p:cNvSpPr txBox="1"/>
          <p:nvPr/>
        </p:nvSpPr>
        <p:spPr>
          <a:xfrm>
            <a:off x="4933950" y="8987790"/>
            <a:ext cx="619125" cy="502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59"/>
              </a:lnSpc>
            </a:pPr>
            <a:r>
              <a:rPr sz="33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8" name="box ba"/>
          <p:cNvSpPr/>
          <p:nvPr/>
        </p:nvSpPr>
        <p:spPr>
          <a:xfrm>
            <a:off x="838200" y="9525000"/>
            <a:ext cx="8610600" cy="1519982"/>
          </a:xfrm>
          <a:prstGeom prst="roundRect">
            <a:avLst>
              <a:gd name="adj" fmla="val 17546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 k"/>
          <p:cNvSpPr txBox="1"/>
          <p:nvPr/>
        </p:nvSpPr>
        <p:spPr>
          <a:xfrm>
            <a:off x="1257300" y="9809798"/>
            <a:ext cx="1193602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 spc="156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AFTER</a:t>
            </a:r>
          </a:p>
        </p:txBody>
      </p:sp>
      <p:sp>
        <p:nvSpPr>
          <p:cNvPr id="20" name="T t"/>
          <p:cNvSpPr txBox="1"/>
          <p:nvPr/>
        </p:nvSpPr>
        <p:spPr>
          <a:xfrm>
            <a:off x="1257300" y="10158293"/>
            <a:ext cx="662099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80"/>
              </a:lnSpc>
            </a:pPr>
            <a:r>
              <a:rPr sz="3900" b="1" spc="-117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센티미터급 위치 측위 측정</a:t>
            </a:r>
          </a:p>
        </p:txBody>
      </p:sp>
      <p:sp>
        <p:nvSpPr>
          <p:cNvPr id="21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  <p:sp>
        <p:nvSpPr>
          <p:cNvPr id="23" name="T fnote"/>
          <p:cNvSpPr txBox="1"/>
          <p:nvPr/>
        </p:nvSpPr>
        <p:spPr>
          <a:xfrm>
            <a:off x="5127635" y="11836837"/>
            <a:ext cx="4321165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340"/>
              </a:lnSpc>
            </a:pPr>
            <a:r>
              <a:rPr sz="195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예시: 스포츠테크 기업의 과제명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25321"/>
            <a:ext cx="9010241" cy="176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확장 시장은</a:t>
            </a:r>
          </a:p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‘지금 지점’부터 찍습니다</a:t>
            </a:r>
          </a:p>
        </p:txBody>
      </p:sp>
      <p:sp>
        <p:nvSpPr>
          <p:cNvPr id="5" name="T gy"/>
          <p:cNvSpPr txBox="1"/>
          <p:nvPr/>
        </p:nvSpPr>
        <p:spPr>
          <a:xfrm>
            <a:off x="1143595" y="4659630"/>
            <a:ext cx="1737568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시니어·재활</a:t>
            </a:r>
          </a:p>
        </p:txBody>
      </p:sp>
      <p:sp>
        <p:nvSpPr>
          <p:cNvPr id="6" name="T gy"/>
          <p:cNvSpPr txBox="1"/>
          <p:nvPr/>
        </p:nvSpPr>
        <p:spPr>
          <a:xfrm>
            <a:off x="1389013" y="5993130"/>
            <a:ext cx="143079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복싱·줌바</a:t>
            </a:r>
          </a:p>
        </p:txBody>
      </p:sp>
      <p:sp>
        <p:nvSpPr>
          <p:cNvPr id="7" name="T gy"/>
          <p:cNvSpPr txBox="1"/>
          <p:nvPr/>
        </p:nvSpPr>
        <p:spPr>
          <a:xfrm>
            <a:off x="1721346" y="7326630"/>
            <a:ext cx="101538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태권도</a:t>
            </a:r>
          </a:p>
        </p:txBody>
      </p:sp>
      <p:sp>
        <p:nvSpPr>
          <p:cNvPr id="8" name="cell"/>
          <p:cNvSpPr/>
          <p:nvPr/>
        </p:nvSpPr>
        <p:spPr>
          <a:xfrm>
            <a:off x="2686050" y="4286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ell"/>
          <p:cNvSpPr/>
          <p:nvPr/>
        </p:nvSpPr>
        <p:spPr>
          <a:xfrm>
            <a:off x="4972050" y="4286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ell"/>
          <p:cNvSpPr/>
          <p:nvPr/>
        </p:nvSpPr>
        <p:spPr>
          <a:xfrm>
            <a:off x="7258050" y="4286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cell"/>
          <p:cNvSpPr/>
          <p:nvPr/>
        </p:nvSpPr>
        <p:spPr>
          <a:xfrm>
            <a:off x="2686050" y="56197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ell"/>
          <p:cNvSpPr/>
          <p:nvPr/>
        </p:nvSpPr>
        <p:spPr>
          <a:xfrm>
            <a:off x="4972050" y="56197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ell"/>
          <p:cNvSpPr/>
          <p:nvPr/>
        </p:nvSpPr>
        <p:spPr>
          <a:xfrm>
            <a:off x="7258050" y="56197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cell now"/>
          <p:cNvSpPr/>
          <p:nvPr/>
        </p:nvSpPr>
        <p:spPr>
          <a:xfrm>
            <a:off x="2686050" y="6953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cell nx"/>
          <p:cNvSpPr/>
          <p:nvPr/>
        </p:nvSpPr>
        <p:spPr>
          <a:xfrm>
            <a:off x="4972050" y="6953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EF8F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ell nx"/>
          <p:cNvSpPr/>
          <p:nvPr/>
        </p:nvSpPr>
        <p:spPr>
          <a:xfrm>
            <a:off x="7258050" y="6953250"/>
            <a:ext cx="2095500" cy="1143000"/>
          </a:xfrm>
          <a:prstGeom prst="roundRect">
            <a:avLst>
              <a:gd name="adj" fmla="val 15000"/>
            </a:avLst>
          </a:prstGeom>
          <a:solidFill>
            <a:srgbClr val="EEF8F6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 cl"/>
          <p:cNvSpPr txBox="1"/>
          <p:nvPr/>
        </p:nvSpPr>
        <p:spPr>
          <a:xfrm>
            <a:off x="2686050" y="6953250"/>
            <a:ext cx="2095500" cy="1143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지금</a:t>
            </a:r>
          </a:p>
        </p:txBody>
      </p:sp>
      <p:sp>
        <p:nvSpPr>
          <p:cNvPr id="18" name="T cl"/>
          <p:cNvSpPr txBox="1"/>
          <p:nvPr/>
        </p:nvSpPr>
        <p:spPr>
          <a:xfrm>
            <a:off x="4972050" y="6953250"/>
            <a:ext cx="2095500" cy="1143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19" name="T cl"/>
          <p:cNvSpPr txBox="1"/>
          <p:nvPr/>
        </p:nvSpPr>
        <p:spPr>
          <a:xfrm>
            <a:off x="7258050" y="6953250"/>
            <a:ext cx="2095500" cy="1143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3600"/>
              </a:lnSpc>
            </a:pPr>
            <a:r>
              <a:rPr sz="30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20" name="T gx"/>
          <p:cNvSpPr txBox="1"/>
          <p:nvPr/>
        </p:nvSpPr>
        <p:spPr>
          <a:xfrm>
            <a:off x="3205609" y="8279130"/>
            <a:ext cx="1415542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신규 창업</a:t>
            </a:r>
          </a:p>
        </p:txBody>
      </p:sp>
      <p:sp>
        <p:nvSpPr>
          <p:cNvPr id="21" name="T gx"/>
          <p:cNvSpPr txBox="1"/>
          <p:nvPr/>
        </p:nvSpPr>
        <p:spPr>
          <a:xfrm>
            <a:off x="5491609" y="8279130"/>
            <a:ext cx="1415542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공간 전환</a:t>
            </a:r>
          </a:p>
        </p:txBody>
      </p:sp>
      <p:sp>
        <p:nvSpPr>
          <p:cNvPr id="22" name="T gx"/>
          <p:cNvSpPr txBox="1"/>
          <p:nvPr/>
        </p:nvSpPr>
        <p:spPr>
          <a:xfrm>
            <a:off x="7937748" y="8279130"/>
            <a:ext cx="101538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샵인샵</a:t>
            </a:r>
          </a:p>
        </p:txBody>
      </p:sp>
      <p:sp>
        <p:nvSpPr>
          <p:cNvPr id="23" name="T rule"/>
          <p:cNvSpPr txBox="1"/>
          <p:nvPr/>
        </p:nvSpPr>
        <p:spPr>
          <a:xfrm>
            <a:off x="838200" y="9140190"/>
            <a:ext cx="5184056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59"/>
              </a:lnSpc>
            </a:pPr>
            <a:r>
              <a:rPr sz="24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1. 지금 있는 지점 하나를 찍는다</a:t>
            </a:r>
          </a:p>
        </p:txBody>
      </p:sp>
      <p:sp>
        <p:nvSpPr>
          <p:cNvPr id="24" name="T rule"/>
          <p:cNvSpPr txBox="1"/>
          <p:nvPr/>
        </p:nvSpPr>
        <p:spPr>
          <a:xfrm>
            <a:off x="838200" y="9711690"/>
            <a:ext cx="7481590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59"/>
              </a:lnSpc>
            </a:pPr>
            <a:r>
              <a:rPr sz="24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2. 다음 칸으로 가는 이유 = </a:t>
            </a:r>
            <a:r>
              <a:rPr sz="24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같은 기술의 고도화</a:t>
            </a:r>
          </a:p>
        </p:txBody>
      </p:sp>
      <p:sp>
        <p:nvSpPr>
          <p:cNvPr id="25" name="T rule"/>
          <p:cNvSpPr txBox="1"/>
          <p:nvPr/>
        </p:nvSpPr>
        <p:spPr>
          <a:xfrm>
            <a:off x="838200" y="10283190"/>
            <a:ext cx="8093459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59"/>
              </a:lnSpc>
            </a:pPr>
            <a:r>
              <a:rPr sz="24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3. 칸마다 시점·숫자를 붙이면 </a:t>
            </a:r>
            <a:r>
              <a:rPr sz="24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2년 스케일업 스토리</a:t>
            </a:r>
          </a:p>
        </p:txBody>
      </p:sp>
      <p:sp>
        <p:nvSpPr>
          <p:cNvPr id="26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  <p:sp>
        <p:nvSpPr>
          <p:cNvPr id="28" name="T fnote"/>
          <p:cNvSpPr txBox="1"/>
          <p:nvPr/>
        </p:nvSpPr>
        <p:spPr>
          <a:xfrm>
            <a:off x="5720060" y="11836837"/>
            <a:ext cx="3728740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340"/>
              </a:lnSpc>
            </a:pPr>
            <a:r>
              <a:rPr sz="195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예시: 태권도장 운영 솔루션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25321"/>
            <a:ext cx="7479171" cy="176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과제명 공식</a:t>
            </a:r>
          </a:p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캡처해서 채워보세요</a:t>
            </a:r>
          </a:p>
        </p:txBody>
      </p:sp>
      <p:sp>
        <p:nvSpPr>
          <p:cNvPr id="5" name="ws"/>
          <p:cNvSpPr/>
          <p:nvPr/>
        </p:nvSpPr>
        <p:spPr>
          <a:xfrm>
            <a:off x="838200" y="4000500"/>
            <a:ext cx="8610600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 k"/>
          <p:cNvSpPr txBox="1"/>
          <p:nvPr/>
        </p:nvSpPr>
        <p:spPr>
          <a:xfrm>
            <a:off x="1238250" y="4432935"/>
            <a:ext cx="1278434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누구의</a:t>
            </a:r>
          </a:p>
        </p:txBody>
      </p:sp>
      <p:sp>
        <p:nvSpPr>
          <p:cNvPr id="7" name="ln"/>
          <p:cNvSpPr/>
          <p:nvPr/>
        </p:nvSpPr>
        <p:spPr>
          <a:xfrm>
            <a:off x="3714750" y="4819650"/>
            <a:ext cx="5257800" cy="38100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ws"/>
          <p:cNvSpPr/>
          <p:nvPr/>
        </p:nvSpPr>
        <p:spPr>
          <a:xfrm>
            <a:off x="838200" y="5448300"/>
            <a:ext cx="8610600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 k"/>
          <p:cNvSpPr txBox="1"/>
          <p:nvPr/>
        </p:nvSpPr>
        <p:spPr>
          <a:xfrm>
            <a:off x="1238250" y="5880735"/>
            <a:ext cx="1278434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무엇을</a:t>
            </a:r>
          </a:p>
        </p:txBody>
      </p:sp>
      <p:sp>
        <p:nvSpPr>
          <p:cNvPr id="10" name="ln"/>
          <p:cNvSpPr/>
          <p:nvPr/>
        </p:nvSpPr>
        <p:spPr>
          <a:xfrm>
            <a:off x="3714750" y="6267450"/>
            <a:ext cx="5257800" cy="38100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ws"/>
          <p:cNvSpPr/>
          <p:nvPr/>
        </p:nvSpPr>
        <p:spPr>
          <a:xfrm>
            <a:off x="838200" y="6896100"/>
            <a:ext cx="8610600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 k"/>
          <p:cNvSpPr txBox="1"/>
          <p:nvPr/>
        </p:nvSpPr>
        <p:spPr>
          <a:xfrm>
            <a:off x="1238250" y="7328535"/>
            <a:ext cx="2187029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27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어떤 지표로</a:t>
            </a:r>
          </a:p>
        </p:txBody>
      </p:sp>
      <p:sp>
        <p:nvSpPr>
          <p:cNvPr id="13" name="ln"/>
          <p:cNvSpPr/>
          <p:nvPr/>
        </p:nvSpPr>
        <p:spPr>
          <a:xfrm>
            <a:off x="3714750" y="7715250"/>
            <a:ext cx="5257800" cy="38100"/>
          </a:xfrm>
          <a:prstGeom prst="rect">
            <a:avLst/>
          </a:prstGeom>
          <a:solidFill>
            <a:srgbClr val="D6D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ox"/>
          <p:cNvSpPr/>
          <p:nvPr/>
        </p:nvSpPr>
        <p:spPr>
          <a:xfrm>
            <a:off x="838200" y="8382000"/>
            <a:ext cx="8610600" cy="2430661"/>
          </a:xfrm>
          <a:prstGeom prst="roundRect">
            <a:avLst>
              <a:gd name="adj" fmla="val 10972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k"/>
          <p:cNvSpPr txBox="1"/>
          <p:nvPr/>
        </p:nvSpPr>
        <p:spPr>
          <a:xfrm>
            <a:off x="1295400" y="8755380"/>
            <a:ext cx="708794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예시</a:t>
            </a:r>
          </a:p>
        </p:txBody>
      </p:sp>
      <p:sp>
        <p:nvSpPr>
          <p:cNvPr id="16" name="T t"/>
          <p:cNvSpPr txBox="1"/>
          <p:nvPr/>
        </p:nvSpPr>
        <p:spPr>
          <a:xfrm>
            <a:off x="1295400" y="9207758"/>
            <a:ext cx="6633270" cy="1215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3300" b="1" spc="-6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축구 선수의 / 경기 중 위치를 /</a:t>
            </a:r>
          </a:p>
          <a:p>
            <a:pPr algn="l">
              <a:lnSpc>
                <a:spcPts val="4784"/>
              </a:lnSpc>
            </a:pPr>
            <a:r>
              <a:rPr sz="3300" b="1" spc="-66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센티미터 단위로 측정하는 기술</a:t>
            </a:r>
          </a:p>
        </p:txBody>
      </p:sp>
      <p:sp>
        <p:nvSpPr>
          <p:cNvPr id="17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  <p:sp>
        <p:nvSpPr>
          <p:cNvPr id="19" name="T fnote"/>
          <p:cNvSpPr txBox="1"/>
          <p:nvPr/>
        </p:nvSpPr>
        <p:spPr>
          <a:xfrm>
            <a:off x="5348392" y="11836837"/>
            <a:ext cx="4100408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340"/>
              </a:lnSpc>
            </a:pPr>
            <a:r>
              <a:rPr sz="195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세 번째 칸이 우리 회사만의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F9E8C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1425321"/>
            <a:ext cx="8343305" cy="17663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우리 회사 결정,</a:t>
            </a:r>
          </a:p>
          <a:p>
            <a:pPr algn="l">
              <a:lnSpc>
                <a:spcPts val="6953"/>
              </a:lnSpc>
            </a:pPr>
            <a:r>
              <a:rPr sz="5700" b="1" spc="-228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지금 누가 쥐고 있나요?</a:t>
            </a:r>
          </a:p>
        </p:txBody>
      </p:sp>
      <p:sp>
        <p:nvSpPr>
          <p:cNvPr id="5" name="T lead"/>
          <p:cNvSpPr txBox="1"/>
          <p:nvPr/>
        </p:nvSpPr>
        <p:spPr>
          <a:xfrm>
            <a:off x="838200" y="3714750"/>
            <a:ext cx="7365690" cy="485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25"/>
              </a:lnSpc>
            </a:pPr>
            <a:r>
              <a:rPr sz="25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과제의 재료는 지금 돌아가는 운영에 있어요</a:t>
            </a:r>
          </a:p>
        </p:txBody>
      </p:sp>
      <p:sp>
        <p:nvSpPr>
          <p:cNvPr id="6" name="DIV"/>
          <p:cNvSpPr/>
          <p:nvPr/>
        </p:nvSpPr>
        <p:spPr>
          <a:xfrm>
            <a:off x="838200" y="4762500"/>
            <a:ext cx="8610600" cy="64770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E4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IMG axmap_s6.png" descr="axmap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781550"/>
            <a:ext cx="8610600" cy="6477000"/>
          </a:xfrm>
          <a:prstGeom prst="rect">
            <a:avLst/>
          </a:prstGeom>
        </p:spPr>
      </p:pic>
      <p:sp>
        <p:nvSpPr>
          <p:cNvPr id="8" name="co"/>
          <p:cNvSpPr/>
          <p:nvPr/>
        </p:nvSpPr>
        <p:spPr>
          <a:xfrm>
            <a:off x="1143000" y="8382000"/>
            <a:ext cx="3708202" cy="609600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 co"/>
          <p:cNvSpPr txBox="1"/>
          <p:nvPr/>
        </p:nvSpPr>
        <p:spPr>
          <a:xfrm>
            <a:off x="1143000" y="8382000"/>
            <a:ext cx="3708202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700"/>
              </a:lnSpc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가로줄 = 누가 결정하나</a:t>
            </a:r>
          </a:p>
        </p:txBody>
      </p:sp>
      <p:sp>
        <p:nvSpPr>
          <p:cNvPr id="10" name="n"/>
          <p:cNvSpPr/>
          <p:nvPr/>
        </p:nvSpPr>
        <p:spPr>
          <a:xfrm>
            <a:off x="1257300" y="8477250"/>
            <a:ext cx="419100" cy="4191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 n"/>
          <p:cNvSpPr txBox="1"/>
          <p:nvPr/>
        </p:nvSpPr>
        <p:spPr>
          <a:xfrm>
            <a:off x="1143000" y="8382000"/>
            <a:ext cx="3708202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co"/>
          <p:cNvSpPr/>
          <p:nvPr/>
        </p:nvSpPr>
        <p:spPr>
          <a:xfrm>
            <a:off x="4476750" y="5334000"/>
            <a:ext cx="4131022" cy="609600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 co"/>
          <p:cNvSpPr txBox="1"/>
          <p:nvPr/>
        </p:nvSpPr>
        <p:spPr>
          <a:xfrm>
            <a:off x="5143500" y="5467350"/>
            <a:ext cx="409221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주황 점선 = 주인 없는 결정</a:t>
            </a:r>
          </a:p>
        </p:txBody>
      </p:sp>
      <p:sp>
        <p:nvSpPr>
          <p:cNvPr id="14" name="n or"/>
          <p:cNvSpPr/>
          <p:nvPr/>
        </p:nvSpPr>
        <p:spPr>
          <a:xfrm>
            <a:off x="4591050" y="5429250"/>
            <a:ext cx="419100" cy="4191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 n or"/>
          <p:cNvSpPr txBox="1"/>
          <p:nvPr/>
        </p:nvSpPr>
        <p:spPr>
          <a:xfrm>
            <a:off x="4591050" y="5429250"/>
            <a:ext cx="4191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co"/>
          <p:cNvSpPr/>
          <p:nvPr/>
        </p:nvSpPr>
        <p:spPr>
          <a:xfrm>
            <a:off x="4000500" y="10287000"/>
            <a:ext cx="4131022" cy="609600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 co"/>
          <p:cNvSpPr txBox="1"/>
          <p:nvPr/>
        </p:nvSpPr>
        <p:spPr>
          <a:xfrm>
            <a:off x="4667250" y="10420350"/>
            <a:ext cx="4092215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검정 칸 = 이미 코드가 처리</a:t>
            </a:r>
          </a:p>
        </p:txBody>
      </p:sp>
      <p:sp>
        <p:nvSpPr>
          <p:cNvPr id="18" name="n"/>
          <p:cNvSpPr/>
          <p:nvPr/>
        </p:nvSpPr>
        <p:spPr>
          <a:xfrm>
            <a:off x="4114800" y="10382250"/>
            <a:ext cx="419100" cy="41910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 n"/>
          <p:cNvSpPr txBox="1"/>
          <p:nvPr/>
        </p:nvSpPr>
        <p:spPr>
          <a:xfrm>
            <a:off x="4114800" y="10382250"/>
            <a:ext cx="419100" cy="419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520"/>
              </a:lnSpc>
            </a:pPr>
            <a:r>
              <a:rPr sz="210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0" name="foot"/>
          <p:cNvSpPr/>
          <p:nvPr/>
        </p:nvSpPr>
        <p:spPr>
          <a:xfrm>
            <a:off x="838200" y="11715750"/>
            <a:ext cx="838200" cy="533400"/>
          </a:xfrm>
          <a:prstGeom prst="roundRect">
            <a:avLst>
              <a:gd name="adj" fmla="val 25000"/>
            </a:avLst>
          </a:prstGeom>
          <a:solidFill>
            <a:srgbClr val="16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IMG logo_symbol.png" descr="logo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1801475"/>
            <a:ext cx="513457" cy="361950"/>
          </a:xfrm>
          <a:prstGeom prst="rect">
            <a:avLst/>
          </a:prstGeom>
        </p:spPr>
      </p:pic>
      <p:sp>
        <p:nvSpPr>
          <p:cNvPr id="22" name="T fnote"/>
          <p:cNvSpPr txBox="1"/>
          <p:nvPr/>
        </p:nvSpPr>
        <p:spPr>
          <a:xfrm>
            <a:off x="3859783" y="11836837"/>
            <a:ext cx="5589017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340"/>
              </a:lnSpc>
            </a:pPr>
            <a:r>
              <a:rPr sz="195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코파운더 AX 시스템지도 · 자사 실제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 eb"/>
          <p:cNvSpPr txBox="1"/>
          <p:nvPr/>
        </p:nvSpPr>
        <p:spPr>
          <a:xfrm>
            <a:off x="838200" y="792480"/>
            <a:ext cx="2251956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2DD4BF"/>
                </a:solidFill>
                <a:latin typeface="Noto Sans KR"/>
                <a:ea typeface="Noto Sans KR"/>
                <a:cs typeface="Noto Sans KR"/>
              </a:rPr>
              <a:t>TIPS 준비 노트</a:t>
            </a:r>
          </a:p>
        </p:txBody>
      </p:sp>
      <p:sp>
        <p:nvSpPr>
          <p:cNvPr id="3" name="T pg"/>
          <p:cNvSpPr txBox="1"/>
          <p:nvPr/>
        </p:nvSpPr>
        <p:spPr>
          <a:xfrm>
            <a:off x="8615050" y="792480"/>
            <a:ext cx="833750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520"/>
              </a:lnSpc>
            </a:pPr>
            <a:r>
              <a:rPr sz="2100" b="1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  <p:sp>
        <p:nvSpPr>
          <p:cNvPr id="4" name="T H1"/>
          <p:cNvSpPr txBox="1"/>
          <p:nvPr/>
        </p:nvSpPr>
        <p:spPr>
          <a:xfrm>
            <a:off x="838200" y="3427095"/>
            <a:ext cx="7493496" cy="13944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980"/>
              </a:lnSpc>
            </a:pPr>
            <a:r>
              <a:rPr sz="9000" b="1" spc="-36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무료 AX 진단</a:t>
            </a:r>
          </a:p>
        </p:txBody>
      </p:sp>
      <p:sp>
        <p:nvSpPr>
          <p:cNvPr id="5" name="T lead"/>
          <p:cNvSpPr txBox="1"/>
          <p:nvPr/>
        </p:nvSpPr>
        <p:spPr>
          <a:xfrm>
            <a:off x="838200" y="5334000"/>
            <a:ext cx="7282904" cy="1257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0"/>
              </a:lnSpc>
            </a:pPr>
            <a:r>
              <a:rPr sz="3300" b="0">
                <a:solidFill>
                  <a:srgbClr val="C9D3E3"/>
                </a:solidFill>
                <a:latin typeface="Noto Sans KR"/>
                <a:ea typeface="Noto Sans KR"/>
                <a:cs typeface="Noto Sans KR"/>
              </a:rPr>
              <a:t>우리 회사 AX 시스템지도로</a:t>
            </a:r>
          </a:p>
          <a:p>
            <a:pPr algn="l">
              <a:lnSpc>
                <a:spcPts val="4950"/>
              </a:lnSpc>
            </a:pPr>
            <a:r>
              <a:rPr sz="3300" b="0">
                <a:solidFill>
                  <a:srgbClr val="C9D3E3"/>
                </a:solidFill>
                <a:latin typeface="Noto Sans KR"/>
                <a:ea typeface="Noto Sans KR"/>
                <a:cs typeface="Noto Sans KR"/>
              </a:rPr>
              <a:t>주인 없는 결정부터 찾아드립니다</a:t>
            </a:r>
          </a:p>
        </p:txBody>
      </p:sp>
      <p:sp>
        <p:nvSpPr>
          <p:cNvPr id="6" name="box"/>
          <p:cNvSpPr/>
          <p:nvPr/>
        </p:nvSpPr>
        <p:spPr>
          <a:xfrm>
            <a:off x="838200" y="7239000"/>
            <a:ext cx="5715000" cy="11430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 box"/>
          <p:cNvSpPr txBox="1"/>
          <p:nvPr/>
        </p:nvSpPr>
        <p:spPr>
          <a:xfrm>
            <a:off x="1759000" y="7541955"/>
            <a:ext cx="4936815" cy="5257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3450" b="1">
                <a:solidFill>
                  <a:srgbClr val="16243D"/>
                </a:solidFill>
                <a:latin typeface="Noto Sans KR"/>
                <a:ea typeface="Noto Sans KR"/>
                <a:cs typeface="Noto Sans KR"/>
              </a:rPr>
              <a:t>프로필 링크에서 신청</a:t>
            </a:r>
          </a:p>
        </p:txBody>
      </p:sp>
      <p:sp>
        <p:nvSpPr>
          <p:cNvPr id="8" name="T fine"/>
          <p:cNvSpPr txBox="1"/>
          <p:nvPr/>
        </p:nvSpPr>
        <p:spPr>
          <a:xfrm>
            <a:off x="838200" y="8945880"/>
            <a:ext cx="6784888" cy="320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>
                <a:solidFill>
                  <a:srgbClr val="8FA0BA"/>
                </a:solidFill>
                <a:latin typeface="Noto Sans KR"/>
                <a:ea typeface="Noto Sans KR"/>
                <a:cs typeface="Noto Sans KR"/>
              </a:rPr>
              <a:t>TIPS 선정은 운영사·전담기관 심사로 결정됩니다</a:t>
            </a:r>
          </a:p>
        </p:txBody>
      </p:sp>
      <p:pic>
        <p:nvPicPr>
          <p:cNvPr id="9" name="IMG logo_symbol.png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715750"/>
            <a:ext cx="756791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캐러셀 v3 (마스터)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